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89636</c:v>
                </c:pt>
                <c:pt idx="1">
                  <c:v>452248</c:v>
                </c:pt>
                <c:pt idx="2">
                  <c:v>134866</c:v>
                </c:pt>
                <c:pt idx="3">
                  <c:v>2215</c:v>
                </c:pt>
                <c:pt idx="4">
                  <c:v>78832</c:v>
                </c:pt>
                <c:pt idx="5">
                  <c:v>12352</c:v>
                </c:pt>
                <c:pt idx="6">
                  <c:v>44128</c:v>
                </c:pt>
                <c:pt idx="7">
                  <c:v>50539</c:v>
                </c:pt>
                <c:pt idx="8">
                  <c:v>62151</c:v>
                </c:pt>
                <c:pt idx="9">
                  <c:v>0</c:v>
                </c:pt>
                <c:pt idx="10">
                  <c:v>23050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Actuals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82180</c:v>
                </c:pt>
                <c:pt idx="1">
                  <c:v>0</c:v>
                </c:pt>
                <c:pt idx="2">
                  <c:v>95127</c:v>
                </c:pt>
                <c:pt idx="3">
                  <c:v>14420</c:v>
                </c:pt>
                <c:pt idx="4">
                  <c:v>6890</c:v>
                </c:pt>
                <c:pt idx="5">
                  <c:v>0</c:v>
                </c:pt>
                <c:pt idx="6">
                  <c:v>11057</c:v>
                </c:pt>
                <c:pt idx="7">
                  <c:v>11662</c:v>
                </c:pt>
                <c:pt idx="8">
                  <c:v>17008</c:v>
                </c:pt>
                <c:pt idx="9">
                  <c:v>5731</c:v>
                </c:pt>
                <c:pt idx="10">
                  <c:v>18029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Commitments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Consultants</c:v>
                  </c:pt>
                  <c:pt idx="1">
                    <c:v>Contracts</c:v>
                  </c:pt>
                  <c:pt idx="2">
                    <c:v>Travel</c:v>
                  </c:pt>
                  <c:pt idx="3">
                    <c:v>Training</c:v>
                  </c:pt>
                  <c:pt idx="4">
                    <c:v>Exp. Proc.</c:v>
                  </c:pt>
                  <c:pt idx="5">
                    <c:v>Non-Exp. Eq.</c:v>
                  </c:pt>
                  <c:pt idx="6">
                    <c:v>Tech. Support</c:v>
                  </c:pt>
                  <c:pt idx="7">
                    <c:v>Gen. Operating</c:v>
                  </c:pt>
                  <c:pt idx="8">
                    <c:v>Support Costs</c:v>
                  </c:pt>
                  <c:pt idx="9">
                    <c:v>Workshop</c:v>
                  </c:pt>
                  <c:pt idx="10">
                    <c:v>Common Svcs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5612</c:v>
                </c:pt>
                <c:pt idx="1">
                  <c:v>90000</c:v>
                </c:pt>
                <c:pt idx="2">
                  <c:v>2165</c:v>
                </c:pt>
                <c:pt idx="3">
                  <c:v>0</c:v>
                </c:pt>
                <c:pt idx="4">
                  <c:v>4576</c:v>
                </c:pt>
                <c:pt idx="5">
                  <c:v>34646</c:v>
                </c:pt>
                <c:pt idx="6">
                  <c:v>0</c:v>
                </c:pt>
                <c:pt idx="7">
                  <c:v>121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7A9A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A9A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E5E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Burned</c:v>
                </c:pt>
                <c:pt idx="1">
                  <c:v>Available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262104</c:v>
                </c:pt>
                <c:pt idx="1">
                  <c:v>687913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2EF"/>
          </a:solidFill>
          <a:ln w="12700">
            <a:solidFill>
              <a:srgbClr val="EDF2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4592" y="3657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Monitoring &amp; Burn Rate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4592" y="25603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UNJP/URT/167/UNJ  ·  Data for Digital Agriculture Transformation (D4DAT)  ·  TF5C35TZ24481  ·  FAO Trust Fund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973568" y="64008"/>
            <a:ext cx="1005840" cy="310896"/>
          </a:xfrm>
          <a:prstGeom prst="roundRect">
            <a:avLst>
              <a:gd name="adj" fmla="val 11765"/>
            </a:avLst>
          </a:prstGeom>
          <a:solidFill>
            <a:srgbClr val="E07C2A"/>
          </a:solidFill>
          <a:ln w="12700">
            <a:solidFill>
              <a:srgbClr val="E07C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73568" y="64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102  ·  Sep 2026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9728" y="475488"/>
            <a:ext cx="17145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" y="475488"/>
            <a:ext cx="1714500" cy="3657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1168" y="548640"/>
            <a:ext cx="15316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201168" y="667512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$950,017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" y="950976"/>
            <a:ext cx="15316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allocation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892808" y="475488"/>
            <a:ext cx="17145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92808" y="475488"/>
            <a:ext cx="17145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84248" y="548640"/>
            <a:ext cx="15316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RECEIVED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1984248" y="667512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$593,696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984248" y="950976"/>
            <a:ext cx="15316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received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75888" y="475488"/>
            <a:ext cx="17145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75888" y="475488"/>
            <a:ext cx="17145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67328" y="548640"/>
            <a:ext cx="15316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ACTUALS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667512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$262,104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767328" y="950976"/>
            <a:ext cx="15316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 to date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458968" y="475488"/>
            <a:ext cx="17145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58968" y="475488"/>
            <a:ext cx="17145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50408" y="548640"/>
            <a:ext cx="15316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COMMITMENTS</a:t>
            </a:r>
            <a:endParaRPr lang="en-US" sz="650" dirty="0"/>
          </a:p>
        </p:txBody>
      </p:sp>
      <p:sp>
        <p:nvSpPr>
          <p:cNvPr id="26" name="Text 24"/>
          <p:cNvSpPr txBox="1"/>
          <p:nvPr/>
        </p:nvSpPr>
        <p:spPr>
          <a:xfrm>
            <a:off x="5550408" y="667512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$137,120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550408" y="950976"/>
            <a:ext cx="15316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$90K · Hard $47K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42048" y="475488"/>
            <a:ext cx="17145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42048" y="475488"/>
            <a:ext cx="17145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33488" y="548640"/>
            <a:ext cx="15316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8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7333488" y="667512"/>
            <a:ext cx="15316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333488" y="950976"/>
            <a:ext cx="15316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/ Budget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09728" y="1170432"/>
            <a:ext cx="5257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9456" y="1252728"/>
            <a:ext cx="50383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vs Actuals by Category (USD)</a:t>
            </a:r>
            <a:endParaRPr lang="en-US" sz="85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146304" y="1417320"/>
          <a:ext cx="5184648" cy="1947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6" name="Shape 33"/>
          <p:cNvSpPr/>
          <p:nvPr/>
        </p:nvSpPr>
        <p:spPr>
          <a:xfrm>
            <a:off x="109728" y="3483864"/>
            <a:ext cx="52578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19456" y="355701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 Alerts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19456" y="3712464"/>
            <a:ext cx="1636776" cy="93268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19456" y="3712464"/>
            <a:ext cx="36576" cy="9326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01752" y="3758184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Training (5023)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301752" y="3913632"/>
            <a:ext cx="1527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651% burn  ·  $14,420 actuals vs $2,215 budget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$12,205 over budget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1920240" y="3712464"/>
            <a:ext cx="1636776" cy="93268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920240" y="3712464"/>
            <a:ext cx="36576" cy="9326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002536" y="3758184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Non-Exp. Equipment (5025)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2002536" y="3913632"/>
            <a:ext cx="1527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commits $34,646 exceed $12,352 budget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$22,294 commitment risk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3621024" y="3712464"/>
            <a:ext cx="1636776" cy="932688"/>
          </a:xfrm>
          <a:prstGeom prst="rect">
            <a:avLst/>
          </a:prstGeom>
          <a:solidFill>
            <a:srgbClr val="FFF5F5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3621024" y="3712464"/>
            <a:ext cx="36576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703320" y="3758184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Workshop Expenses (5031)</a:t>
            </a:r>
            <a:endParaRPr lang="en-US" sz="750" dirty="0"/>
          </a:p>
        </p:txBody>
      </p:sp>
      <p:sp>
        <p:nvSpPr>
          <p:cNvPr id="49" name="Text 46"/>
          <p:cNvSpPr txBox="1"/>
          <p:nvPr/>
        </p:nvSpPr>
        <p:spPr>
          <a:xfrm>
            <a:off x="3703320" y="3913632"/>
            <a:ext cx="1527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$5,731 spent against $0 budget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Unbudgeted activity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486400" y="1170432"/>
            <a:ext cx="3547872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577840" y="1252728"/>
            <a:ext cx="3364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Rate &amp; Delivery Analysis</a:t>
            </a:r>
            <a:endParaRPr lang="en-US" sz="850" dirty="0"/>
          </a:p>
        </p:txBody>
      </p:sp>
      <p:graphicFrame>
        <p:nvGraphicFramePr>
          <p:cNvPr id="52" name="Chart 1" descr=""/>
          <p:cNvGraphicFramePr/>
          <p:nvPr/>
        </p:nvGraphicFramePr>
        <p:xfrm>
          <a:off x="5532120" y="1408176"/>
          <a:ext cx="1170432" cy="9692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5715000" y="17647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1000" dirty="0"/>
          </a:p>
        </p:txBody>
      </p:sp>
      <p:sp>
        <p:nvSpPr>
          <p:cNvPr id="54" name="Text 50"/>
          <p:cNvSpPr txBox="1"/>
          <p:nvPr/>
        </p:nvSpPr>
        <p:spPr>
          <a:xfrm>
            <a:off x="5715000" y="1947672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</a:t>
            </a:r>
            <a:endParaRPr lang="en-US" sz="650" dirty="0"/>
          </a:p>
        </p:txBody>
      </p:sp>
      <p:sp>
        <p:nvSpPr>
          <p:cNvPr id="55" name="Text 51"/>
          <p:cNvSpPr txBox="1"/>
          <p:nvPr/>
        </p:nvSpPr>
        <p:spPr>
          <a:xfrm>
            <a:off x="6784848" y="144475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$262,104 / $950,017</a:t>
            </a:r>
            <a:endParaRPr lang="en-US" sz="1000" dirty="0"/>
          </a:p>
        </p:txBody>
      </p:sp>
      <p:sp>
        <p:nvSpPr>
          <p:cNvPr id="56" name="Text 52"/>
          <p:cNvSpPr txBox="1"/>
          <p:nvPr/>
        </p:nvSpPr>
        <p:spPr>
          <a:xfrm>
            <a:off x="6784848" y="16276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/ Total Budget</a:t>
            </a:r>
            <a:endParaRPr lang="en-US" sz="700" dirty="0"/>
          </a:p>
        </p:txBody>
      </p:sp>
      <p:sp>
        <p:nvSpPr>
          <p:cNvPr id="57" name="Text 53"/>
          <p:cNvSpPr txBox="1"/>
          <p:nvPr/>
        </p:nvSpPr>
        <p:spPr>
          <a:xfrm>
            <a:off x="6784848" y="175564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$399,224</a:t>
            </a:r>
            <a:endParaRPr lang="en-US" sz="1000" dirty="0"/>
          </a:p>
        </p:txBody>
      </p:sp>
      <p:sp>
        <p:nvSpPr>
          <p:cNvPr id="58" name="Text 54"/>
          <p:cNvSpPr txBox="1"/>
          <p:nvPr/>
        </p:nvSpPr>
        <p:spPr>
          <a:xfrm>
            <a:off x="6784848" y="1938528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+ Commitments</a:t>
            </a:r>
            <a:endParaRPr lang="en-US" sz="700" dirty="0"/>
          </a:p>
        </p:txBody>
      </p:sp>
      <p:sp>
        <p:nvSpPr>
          <p:cNvPr id="59" name="Text 55"/>
          <p:cNvSpPr txBox="1"/>
          <p:nvPr/>
        </p:nvSpPr>
        <p:spPr>
          <a:xfrm>
            <a:off x="6784848" y="206654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$550,793</a:t>
            </a:r>
            <a:endParaRPr lang="en-US" sz="1000" dirty="0"/>
          </a:p>
        </p:txBody>
      </p:sp>
      <p:sp>
        <p:nvSpPr>
          <p:cNvPr id="60" name="Text 56"/>
          <p:cNvSpPr txBox="1"/>
          <p:nvPr/>
        </p:nvSpPr>
        <p:spPr>
          <a:xfrm>
            <a:off x="6784848" y="2249424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9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Budget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5486400" y="2496312"/>
            <a:ext cx="35478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5577840" y="2551176"/>
            <a:ext cx="3364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 by Line Item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>
            <a:off x="5532120" y="2688336"/>
            <a:ext cx="1325880" cy="164592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5532120" y="26883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6858000" y="2688336"/>
            <a:ext cx="667512" cy="164592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6858000" y="2688336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($)</a:t>
            </a:r>
            <a:endParaRPr lang="en-US" sz="600" dirty="0"/>
          </a:p>
        </p:txBody>
      </p:sp>
      <p:sp>
        <p:nvSpPr>
          <p:cNvPr id="67" name="Shape 63"/>
          <p:cNvSpPr/>
          <p:nvPr/>
        </p:nvSpPr>
        <p:spPr>
          <a:xfrm>
            <a:off x="7525512" y="2688336"/>
            <a:ext cx="667512" cy="164592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7525512" y="2688336"/>
            <a:ext cx="667512" cy="164592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($)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8193024" y="2688336"/>
            <a:ext cx="658368" cy="164592"/>
          </a:xfrm>
          <a:prstGeom prst="rect">
            <a:avLst/>
          </a:prstGeom>
          <a:solidFill>
            <a:srgbClr val="0F3028"/>
          </a:solidFill>
          <a:ln w="12700">
            <a:solidFill>
              <a:srgbClr val="0F3028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8193024" y="26883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3810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D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%</a:t>
            </a:r>
            <a:endParaRPr lang="en-US" sz="600" dirty="0"/>
          </a:p>
        </p:txBody>
      </p:sp>
      <p:sp>
        <p:nvSpPr>
          <p:cNvPr id="71" name="Shape 67"/>
          <p:cNvSpPr/>
          <p:nvPr/>
        </p:nvSpPr>
        <p:spPr>
          <a:xfrm>
            <a:off x="5532120" y="2852928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5532120" y="2852928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</a:t>
            </a:r>
            <a:endParaRPr lang="en-US" sz="650" dirty="0"/>
          </a:p>
        </p:txBody>
      </p:sp>
      <p:sp>
        <p:nvSpPr>
          <p:cNvPr id="73" name="Shape 69"/>
          <p:cNvSpPr/>
          <p:nvPr/>
        </p:nvSpPr>
        <p:spPr>
          <a:xfrm>
            <a:off x="6858000" y="2852928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6858000" y="2852928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89,636</a:t>
            </a:r>
            <a:endParaRPr lang="en-US" sz="650" dirty="0"/>
          </a:p>
        </p:txBody>
      </p:sp>
      <p:sp>
        <p:nvSpPr>
          <p:cNvPr id="75" name="Shape 71"/>
          <p:cNvSpPr/>
          <p:nvPr/>
        </p:nvSpPr>
        <p:spPr>
          <a:xfrm>
            <a:off x="7525512" y="2852928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7525512" y="2852928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82,180</a:t>
            </a:r>
            <a:endParaRPr lang="en-US" sz="650" dirty="0"/>
          </a:p>
        </p:txBody>
      </p:sp>
      <p:sp>
        <p:nvSpPr>
          <p:cNvPr id="77" name="Shape 73"/>
          <p:cNvSpPr/>
          <p:nvPr/>
        </p:nvSpPr>
        <p:spPr>
          <a:xfrm>
            <a:off x="8193024" y="2852928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284464" y="2871216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8193024" y="2852928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650" dirty="0"/>
          </a:p>
        </p:txBody>
      </p:sp>
      <p:sp>
        <p:nvSpPr>
          <p:cNvPr id="80" name="Shape 76"/>
          <p:cNvSpPr/>
          <p:nvPr/>
        </p:nvSpPr>
        <p:spPr>
          <a:xfrm>
            <a:off x="5532120" y="3001061"/>
            <a:ext cx="1325880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5532120" y="3001061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650" dirty="0"/>
          </a:p>
        </p:txBody>
      </p:sp>
      <p:sp>
        <p:nvSpPr>
          <p:cNvPr id="82" name="Shape 78"/>
          <p:cNvSpPr/>
          <p:nvPr/>
        </p:nvSpPr>
        <p:spPr>
          <a:xfrm>
            <a:off x="6858000" y="3001061"/>
            <a:ext cx="667512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6858000" y="3001061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452,248</a:t>
            </a:r>
            <a:endParaRPr lang="en-US" sz="650" dirty="0"/>
          </a:p>
        </p:txBody>
      </p:sp>
      <p:sp>
        <p:nvSpPr>
          <p:cNvPr id="84" name="Shape 80"/>
          <p:cNvSpPr/>
          <p:nvPr/>
        </p:nvSpPr>
        <p:spPr>
          <a:xfrm>
            <a:off x="7525512" y="3001061"/>
            <a:ext cx="667512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7525512" y="3001061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50" dirty="0"/>
          </a:p>
        </p:txBody>
      </p:sp>
      <p:sp>
        <p:nvSpPr>
          <p:cNvPr id="86" name="Shape 82"/>
          <p:cNvSpPr/>
          <p:nvPr/>
        </p:nvSpPr>
        <p:spPr>
          <a:xfrm>
            <a:off x="8193024" y="3001061"/>
            <a:ext cx="658368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8284464" y="3019349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8193024" y="3001061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650" dirty="0"/>
          </a:p>
        </p:txBody>
      </p:sp>
      <p:sp>
        <p:nvSpPr>
          <p:cNvPr id="89" name="Shape 85"/>
          <p:cNvSpPr/>
          <p:nvPr/>
        </p:nvSpPr>
        <p:spPr>
          <a:xfrm>
            <a:off x="5532120" y="3149194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5532120" y="3149194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650" dirty="0"/>
          </a:p>
        </p:txBody>
      </p:sp>
      <p:sp>
        <p:nvSpPr>
          <p:cNvPr id="91" name="Shape 87"/>
          <p:cNvSpPr/>
          <p:nvPr/>
        </p:nvSpPr>
        <p:spPr>
          <a:xfrm>
            <a:off x="6858000" y="3149194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6858000" y="3149194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134,866</a:t>
            </a:r>
            <a:endParaRPr lang="en-US" sz="650" dirty="0"/>
          </a:p>
        </p:txBody>
      </p:sp>
      <p:sp>
        <p:nvSpPr>
          <p:cNvPr id="93" name="Shape 89"/>
          <p:cNvSpPr/>
          <p:nvPr/>
        </p:nvSpPr>
        <p:spPr>
          <a:xfrm>
            <a:off x="7525512" y="3149194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7525512" y="3149194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95,127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8193024" y="3149194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8284464" y="3167482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8193024" y="3149194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</a:t>
            </a:r>
            <a:endParaRPr lang="en-US" sz="650" dirty="0"/>
          </a:p>
        </p:txBody>
      </p:sp>
      <p:sp>
        <p:nvSpPr>
          <p:cNvPr id="98" name="Shape 94"/>
          <p:cNvSpPr/>
          <p:nvPr/>
        </p:nvSpPr>
        <p:spPr>
          <a:xfrm>
            <a:off x="5532120" y="3297326"/>
            <a:ext cx="1325880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5532120" y="3297326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⚠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6858000" y="3297326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6858000" y="3297326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2,215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7525512" y="3297326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7525512" y="3297326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14,420</a:t>
            </a:r>
            <a:endParaRPr lang="en-US" sz="650" dirty="0"/>
          </a:p>
        </p:txBody>
      </p:sp>
      <p:sp>
        <p:nvSpPr>
          <p:cNvPr id="104" name="Shape 100"/>
          <p:cNvSpPr/>
          <p:nvPr/>
        </p:nvSpPr>
        <p:spPr>
          <a:xfrm>
            <a:off x="8193024" y="3297326"/>
            <a:ext cx="658368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8284464" y="3315614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8193024" y="3297326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651%</a:t>
            </a:r>
            <a:endParaRPr lang="en-US" sz="650" dirty="0"/>
          </a:p>
        </p:txBody>
      </p:sp>
      <p:sp>
        <p:nvSpPr>
          <p:cNvPr id="107" name="Shape 103"/>
          <p:cNvSpPr/>
          <p:nvPr/>
        </p:nvSpPr>
        <p:spPr>
          <a:xfrm>
            <a:off x="5532120" y="3445459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5532120" y="3445459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Exp. Proc.</a:t>
            </a:r>
            <a:endParaRPr lang="en-US" sz="650" dirty="0"/>
          </a:p>
        </p:txBody>
      </p:sp>
      <p:sp>
        <p:nvSpPr>
          <p:cNvPr id="109" name="Shape 105"/>
          <p:cNvSpPr/>
          <p:nvPr/>
        </p:nvSpPr>
        <p:spPr>
          <a:xfrm>
            <a:off x="6858000" y="3445459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0" name="Text 106"/>
          <p:cNvSpPr txBox="1"/>
          <p:nvPr/>
        </p:nvSpPr>
        <p:spPr>
          <a:xfrm>
            <a:off x="6858000" y="3445459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78,832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7525512" y="3445459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7525512" y="3445459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6,890</a:t>
            </a:r>
            <a:endParaRPr lang="en-US" sz="650" dirty="0"/>
          </a:p>
        </p:txBody>
      </p:sp>
      <p:sp>
        <p:nvSpPr>
          <p:cNvPr id="113" name="Shape 109"/>
          <p:cNvSpPr/>
          <p:nvPr/>
        </p:nvSpPr>
        <p:spPr>
          <a:xfrm>
            <a:off x="8193024" y="3445459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8284464" y="3463747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8193024" y="3445459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8.7%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5532120" y="3593592"/>
            <a:ext cx="1325880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5532120" y="3593592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Non-Exp. Eq. ⚠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6858000" y="3593592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19" name="Text 115"/>
          <p:cNvSpPr txBox="1"/>
          <p:nvPr/>
        </p:nvSpPr>
        <p:spPr>
          <a:xfrm>
            <a:off x="6858000" y="3593592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12,352</a:t>
            </a:r>
            <a:endParaRPr lang="en-US" sz="650" dirty="0"/>
          </a:p>
        </p:txBody>
      </p:sp>
      <p:sp>
        <p:nvSpPr>
          <p:cNvPr id="120" name="Shape 116"/>
          <p:cNvSpPr/>
          <p:nvPr/>
        </p:nvSpPr>
        <p:spPr>
          <a:xfrm>
            <a:off x="7525512" y="3593592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7525512" y="3593592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50" dirty="0"/>
          </a:p>
        </p:txBody>
      </p:sp>
      <p:sp>
        <p:nvSpPr>
          <p:cNvPr id="122" name="Shape 118"/>
          <p:cNvSpPr/>
          <p:nvPr/>
        </p:nvSpPr>
        <p:spPr>
          <a:xfrm>
            <a:off x="8193024" y="3593592"/>
            <a:ext cx="658368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8284464" y="3611880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4" name="Text 120"/>
          <p:cNvSpPr txBox="1"/>
          <p:nvPr/>
        </p:nvSpPr>
        <p:spPr>
          <a:xfrm>
            <a:off x="8193024" y="3593592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0%*</a:t>
            </a:r>
            <a:endParaRPr lang="en-US" sz="650" dirty="0"/>
          </a:p>
        </p:txBody>
      </p:sp>
      <p:sp>
        <p:nvSpPr>
          <p:cNvPr id="125" name="Shape 121"/>
          <p:cNvSpPr/>
          <p:nvPr/>
        </p:nvSpPr>
        <p:spPr>
          <a:xfrm>
            <a:off x="5532120" y="3741725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6" name="Text 122"/>
          <p:cNvSpPr txBox="1"/>
          <p:nvPr/>
        </p:nvSpPr>
        <p:spPr>
          <a:xfrm>
            <a:off x="5532120" y="3741725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Tech. Support</a:t>
            </a:r>
            <a:endParaRPr lang="en-US" sz="650" dirty="0"/>
          </a:p>
        </p:txBody>
      </p:sp>
      <p:sp>
        <p:nvSpPr>
          <p:cNvPr id="127" name="Shape 123"/>
          <p:cNvSpPr/>
          <p:nvPr/>
        </p:nvSpPr>
        <p:spPr>
          <a:xfrm>
            <a:off x="6858000" y="3741725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28" name="Text 124"/>
          <p:cNvSpPr txBox="1"/>
          <p:nvPr/>
        </p:nvSpPr>
        <p:spPr>
          <a:xfrm>
            <a:off x="6858000" y="3741725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44,128</a:t>
            </a:r>
            <a:endParaRPr lang="en-US" sz="650" dirty="0"/>
          </a:p>
        </p:txBody>
      </p:sp>
      <p:sp>
        <p:nvSpPr>
          <p:cNvPr id="129" name="Shape 125"/>
          <p:cNvSpPr/>
          <p:nvPr/>
        </p:nvSpPr>
        <p:spPr>
          <a:xfrm>
            <a:off x="7525512" y="3741725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0" name="Text 126"/>
          <p:cNvSpPr txBox="1"/>
          <p:nvPr/>
        </p:nvSpPr>
        <p:spPr>
          <a:xfrm>
            <a:off x="7525512" y="3741725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11,057</a:t>
            </a:r>
            <a:endParaRPr lang="en-US" sz="650" dirty="0"/>
          </a:p>
        </p:txBody>
      </p:sp>
      <p:sp>
        <p:nvSpPr>
          <p:cNvPr id="131" name="Shape 127"/>
          <p:cNvSpPr/>
          <p:nvPr/>
        </p:nvSpPr>
        <p:spPr>
          <a:xfrm>
            <a:off x="8193024" y="3741725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284464" y="3760013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3" name="Text 129"/>
          <p:cNvSpPr txBox="1"/>
          <p:nvPr/>
        </p:nvSpPr>
        <p:spPr>
          <a:xfrm>
            <a:off x="8193024" y="3741725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5532120" y="3889858"/>
            <a:ext cx="1325880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5" name="Text 131"/>
          <p:cNvSpPr txBox="1"/>
          <p:nvPr/>
        </p:nvSpPr>
        <p:spPr>
          <a:xfrm>
            <a:off x="5532120" y="3889858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Operating</a:t>
            </a:r>
            <a:endParaRPr lang="en-US" sz="650" dirty="0"/>
          </a:p>
        </p:txBody>
      </p:sp>
      <p:sp>
        <p:nvSpPr>
          <p:cNvPr id="136" name="Shape 132"/>
          <p:cNvSpPr/>
          <p:nvPr/>
        </p:nvSpPr>
        <p:spPr>
          <a:xfrm>
            <a:off x="6858000" y="3889858"/>
            <a:ext cx="667512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7" name="Text 133"/>
          <p:cNvSpPr txBox="1"/>
          <p:nvPr/>
        </p:nvSpPr>
        <p:spPr>
          <a:xfrm>
            <a:off x="6858000" y="3889858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50,539</a:t>
            </a:r>
            <a:endParaRPr lang="en-US" sz="650" dirty="0"/>
          </a:p>
        </p:txBody>
      </p:sp>
      <p:sp>
        <p:nvSpPr>
          <p:cNvPr id="138" name="Shape 134"/>
          <p:cNvSpPr/>
          <p:nvPr/>
        </p:nvSpPr>
        <p:spPr>
          <a:xfrm>
            <a:off x="7525512" y="3889858"/>
            <a:ext cx="667512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39" name="Text 135"/>
          <p:cNvSpPr txBox="1"/>
          <p:nvPr/>
        </p:nvSpPr>
        <p:spPr>
          <a:xfrm>
            <a:off x="7525512" y="3889858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11,662</a:t>
            </a:r>
            <a:endParaRPr lang="en-US" sz="650" dirty="0"/>
          </a:p>
        </p:txBody>
      </p:sp>
      <p:sp>
        <p:nvSpPr>
          <p:cNvPr id="140" name="Shape 136"/>
          <p:cNvSpPr/>
          <p:nvPr/>
        </p:nvSpPr>
        <p:spPr>
          <a:xfrm>
            <a:off x="8193024" y="3889858"/>
            <a:ext cx="658368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8284464" y="3908146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2" name="Text 138"/>
          <p:cNvSpPr txBox="1"/>
          <p:nvPr/>
        </p:nvSpPr>
        <p:spPr>
          <a:xfrm>
            <a:off x="8193024" y="3889858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650" dirty="0"/>
          </a:p>
        </p:txBody>
      </p:sp>
      <p:sp>
        <p:nvSpPr>
          <p:cNvPr id="143" name="Shape 139"/>
          <p:cNvSpPr/>
          <p:nvPr/>
        </p:nvSpPr>
        <p:spPr>
          <a:xfrm>
            <a:off x="5532120" y="4037990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4" name="Text 140"/>
          <p:cNvSpPr txBox="1"/>
          <p:nvPr/>
        </p:nvSpPr>
        <p:spPr>
          <a:xfrm>
            <a:off x="5532120" y="4037990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Costs</a:t>
            </a:r>
            <a:endParaRPr lang="en-US" sz="650" dirty="0"/>
          </a:p>
        </p:txBody>
      </p:sp>
      <p:sp>
        <p:nvSpPr>
          <p:cNvPr id="145" name="Shape 141"/>
          <p:cNvSpPr/>
          <p:nvPr/>
        </p:nvSpPr>
        <p:spPr>
          <a:xfrm>
            <a:off x="6858000" y="4037990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6" name="Text 142"/>
          <p:cNvSpPr txBox="1"/>
          <p:nvPr/>
        </p:nvSpPr>
        <p:spPr>
          <a:xfrm>
            <a:off x="6858000" y="4037990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62,151</a:t>
            </a:r>
            <a:endParaRPr lang="en-US" sz="650" dirty="0"/>
          </a:p>
        </p:txBody>
      </p:sp>
      <p:sp>
        <p:nvSpPr>
          <p:cNvPr id="147" name="Shape 143"/>
          <p:cNvSpPr/>
          <p:nvPr/>
        </p:nvSpPr>
        <p:spPr>
          <a:xfrm>
            <a:off x="7525512" y="4037990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48" name="Text 144"/>
          <p:cNvSpPr txBox="1"/>
          <p:nvPr/>
        </p:nvSpPr>
        <p:spPr>
          <a:xfrm>
            <a:off x="7525512" y="4037990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17,008</a:t>
            </a:r>
            <a:endParaRPr lang="en-US" sz="650" dirty="0"/>
          </a:p>
        </p:txBody>
      </p:sp>
      <p:sp>
        <p:nvSpPr>
          <p:cNvPr id="149" name="Shape 145"/>
          <p:cNvSpPr/>
          <p:nvPr/>
        </p:nvSpPr>
        <p:spPr>
          <a:xfrm>
            <a:off x="8193024" y="4037990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8284464" y="4056278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1" name="Text 147"/>
          <p:cNvSpPr txBox="1"/>
          <p:nvPr/>
        </p:nvSpPr>
        <p:spPr>
          <a:xfrm>
            <a:off x="8193024" y="4037990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27.4%</a:t>
            </a:r>
            <a:endParaRPr lang="en-US" sz="650" dirty="0"/>
          </a:p>
        </p:txBody>
      </p:sp>
      <p:sp>
        <p:nvSpPr>
          <p:cNvPr id="152" name="Shape 148"/>
          <p:cNvSpPr/>
          <p:nvPr/>
        </p:nvSpPr>
        <p:spPr>
          <a:xfrm>
            <a:off x="5532120" y="4186123"/>
            <a:ext cx="1325880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3" name="Text 149"/>
          <p:cNvSpPr txBox="1"/>
          <p:nvPr/>
        </p:nvSpPr>
        <p:spPr>
          <a:xfrm>
            <a:off x="5532120" y="4186123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⚠</a:t>
            </a:r>
            <a:endParaRPr lang="en-US" sz="650" dirty="0"/>
          </a:p>
        </p:txBody>
      </p:sp>
      <p:sp>
        <p:nvSpPr>
          <p:cNvPr id="154" name="Shape 150"/>
          <p:cNvSpPr/>
          <p:nvPr/>
        </p:nvSpPr>
        <p:spPr>
          <a:xfrm>
            <a:off x="6858000" y="4186123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5" name="Text 151"/>
          <p:cNvSpPr txBox="1"/>
          <p:nvPr/>
        </p:nvSpPr>
        <p:spPr>
          <a:xfrm>
            <a:off x="6858000" y="4186123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50" dirty="0"/>
          </a:p>
        </p:txBody>
      </p:sp>
      <p:sp>
        <p:nvSpPr>
          <p:cNvPr id="156" name="Shape 152"/>
          <p:cNvSpPr/>
          <p:nvPr/>
        </p:nvSpPr>
        <p:spPr>
          <a:xfrm>
            <a:off x="7525512" y="4186123"/>
            <a:ext cx="667512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7" name="Text 153"/>
          <p:cNvSpPr txBox="1"/>
          <p:nvPr/>
        </p:nvSpPr>
        <p:spPr>
          <a:xfrm>
            <a:off x="7525512" y="4186123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5,731</a:t>
            </a:r>
            <a:endParaRPr lang="en-US" sz="650" dirty="0"/>
          </a:p>
        </p:txBody>
      </p:sp>
      <p:sp>
        <p:nvSpPr>
          <p:cNvPr id="158" name="Shape 154"/>
          <p:cNvSpPr/>
          <p:nvPr/>
        </p:nvSpPr>
        <p:spPr>
          <a:xfrm>
            <a:off x="8193024" y="4186123"/>
            <a:ext cx="658368" cy="148133"/>
          </a:xfrm>
          <a:prstGeom prst="rect">
            <a:avLst/>
          </a:prstGeom>
          <a:solidFill>
            <a:srgbClr val="FFF5F5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8284464" y="4204411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0" name="Text 156"/>
          <p:cNvSpPr txBox="1"/>
          <p:nvPr/>
        </p:nvSpPr>
        <p:spPr>
          <a:xfrm>
            <a:off x="8193024" y="4186123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650" dirty="0"/>
          </a:p>
        </p:txBody>
      </p:sp>
      <p:sp>
        <p:nvSpPr>
          <p:cNvPr id="161" name="Shape 157"/>
          <p:cNvSpPr/>
          <p:nvPr/>
        </p:nvSpPr>
        <p:spPr>
          <a:xfrm>
            <a:off x="5532120" y="4334256"/>
            <a:ext cx="1325880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2" name="Text 158"/>
          <p:cNvSpPr txBox="1"/>
          <p:nvPr/>
        </p:nvSpPr>
        <p:spPr>
          <a:xfrm>
            <a:off x="5532120" y="4334256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Svcs</a:t>
            </a:r>
            <a:endParaRPr lang="en-US" sz="650" dirty="0"/>
          </a:p>
        </p:txBody>
      </p:sp>
      <p:sp>
        <p:nvSpPr>
          <p:cNvPr id="163" name="Shape 159"/>
          <p:cNvSpPr/>
          <p:nvPr/>
        </p:nvSpPr>
        <p:spPr>
          <a:xfrm>
            <a:off x="6858000" y="4334256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4" name="Text 160"/>
          <p:cNvSpPr txBox="1"/>
          <p:nvPr/>
        </p:nvSpPr>
        <p:spPr>
          <a:xfrm>
            <a:off x="6858000" y="4334256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23,050</a:t>
            </a:r>
            <a:endParaRPr lang="en-US" sz="650" dirty="0"/>
          </a:p>
        </p:txBody>
      </p:sp>
      <p:sp>
        <p:nvSpPr>
          <p:cNvPr id="165" name="Shape 161"/>
          <p:cNvSpPr/>
          <p:nvPr/>
        </p:nvSpPr>
        <p:spPr>
          <a:xfrm>
            <a:off x="7525512" y="4334256"/>
            <a:ext cx="667512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6" name="Text 162"/>
          <p:cNvSpPr txBox="1"/>
          <p:nvPr/>
        </p:nvSpPr>
        <p:spPr>
          <a:xfrm>
            <a:off x="7525512" y="4334256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18,029</a:t>
            </a:r>
            <a:endParaRPr lang="en-US" sz="650" dirty="0"/>
          </a:p>
        </p:txBody>
      </p:sp>
      <p:sp>
        <p:nvSpPr>
          <p:cNvPr id="167" name="Shape 163"/>
          <p:cNvSpPr/>
          <p:nvPr/>
        </p:nvSpPr>
        <p:spPr>
          <a:xfrm>
            <a:off x="8193024" y="4334256"/>
            <a:ext cx="658368" cy="148133"/>
          </a:xfrm>
          <a:prstGeom prst="rect">
            <a:avLst/>
          </a:prstGeom>
          <a:solidFill>
            <a:srgbClr val="FAFCFB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8284464" y="4352544"/>
            <a:ext cx="548640" cy="111557"/>
          </a:xfrm>
          <a:prstGeom prst="roundRect">
            <a:avLst>
              <a:gd name="adj" fmla="val 1639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9" name="Text 165"/>
          <p:cNvSpPr txBox="1"/>
          <p:nvPr/>
        </p:nvSpPr>
        <p:spPr>
          <a:xfrm>
            <a:off x="8193024" y="4334256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650" dirty="0"/>
          </a:p>
        </p:txBody>
      </p:sp>
      <p:sp>
        <p:nvSpPr>
          <p:cNvPr id="170" name="Shape 166"/>
          <p:cNvSpPr/>
          <p:nvPr/>
        </p:nvSpPr>
        <p:spPr>
          <a:xfrm>
            <a:off x="5532120" y="4482389"/>
            <a:ext cx="1325880" cy="148133"/>
          </a:xfrm>
          <a:prstGeom prst="rect">
            <a:avLst/>
          </a:prstGeom>
          <a:solidFill>
            <a:srgbClr val="EDF7F2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71" name="Text 167"/>
          <p:cNvSpPr txBox="1"/>
          <p:nvPr/>
        </p:nvSpPr>
        <p:spPr>
          <a:xfrm>
            <a:off x="5532120" y="4482389"/>
            <a:ext cx="1325880" cy="148133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50" dirty="0"/>
          </a:p>
        </p:txBody>
      </p:sp>
      <p:sp>
        <p:nvSpPr>
          <p:cNvPr id="172" name="Shape 168"/>
          <p:cNvSpPr/>
          <p:nvPr/>
        </p:nvSpPr>
        <p:spPr>
          <a:xfrm>
            <a:off x="6858000" y="4482389"/>
            <a:ext cx="667512" cy="148133"/>
          </a:xfrm>
          <a:prstGeom prst="rect">
            <a:avLst/>
          </a:prstGeom>
          <a:solidFill>
            <a:srgbClr val="EDF7F2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73" name="Text 169"/>
          <p:cNvSpPr txBox="1"/>
          <p:nvPr/>
        </p:nvSpPr>
        <p:spPr>
          <a:xfrm>
            <a:off x="6858000" y="4482389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950,017</a:t>
            </a:r>
            <a:endParaRPr lang="en-US" sz="650" dirty="0"/>
          </a:p>
        </p:txBody>
      </p:sp>
      <p:sp>
        <p:nvSpPr>
          <p:cNvPr id="174" name="Shape 170"/>
          <p:cNvSpPr/>
          <p:nvPr/>
        </p:nvSpPr>
        <p:spPr>
          <a:xfrm>
            <a:off x="7525512" y="4482389"/>
            <a:ext cx="667512" cy="148133"/>
          </a:xfrm>
          <a:prstGeom prst="rect">
            <a:avLst/>
          </a:prstGeom>
          <a:solidFill>
            <a:srgbClr val="EDF7F2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75" name="Text 171"/>
          <p:cNvSpPr txBox="1"/>
          <p:nvPr/>
        </p:nvSpPr>
        <p:spPr>
          <a:xfrm>
            <a:off x="7525512" y="4482389"/>
            <a:ext cx="667512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262,104</a:t>
            </a:r>
            <a:endParaRPr lang="en-US" sz="650" dirty="0"/>
          </a:p>
        </p:txBody>
      </p:sp>
      <p:sp>
        <p:nvSpPr>
          <p:cNvPr id="176" name="Shape 172"/>
          <p:cNvSpPr/>
          <p:nvPr/>
        </p:nvSpPr>
        <p:spPr>
          <a:xfrm>
            <a:off x="8193024" y="4482389"/>
            <a:ext cx="658368" cy="148133"/>
          </a:xfrm>
          <a:prstGeom prst="rect">
            <a:avLst/>
          </a:prstGeom>
          <a:solidFill>
            <a:srgbClr val="EDF7F2"/>
          </a:solidFill>
          <a:ln w="12700">
            <a:solidFill>
              <a:srgbClr val="D9E5E0"/>
            </a:solidFill>
            <a:prstDash val="solid"/>
          </a:ln>
        </p:spPr>
      </p:sp>
      <p:sp>
        <p:nvSpPr>
          <p:cNvPr id="177" name="Text 173"/>
          <p:cNvSpPr txBox="1"/>
          <p:nvPr/>
        </p:nvSpPr>
        <p:spPr>
          <a:xfrm>
            <a:off x="8193024" y="4482389"/>
            <a:ext cx="658368" cy="148133"/>
          </a:xfrm>
          <a:prstGeom prst="rect">
            <a:avLst/>
          </a:prstGeom>
          <a:noFill/>
          <a:ln/>
        </p:spPr>
        <p:txBody>
          <a:bodyPr wrap="square" lIns="0" tIns="0" rIns="2540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8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</a:t>
            </a:r>
            <a:endParaRPr lang="en-US" sz="650" dirty="0"/>
          </a:p>
        </p:txBody>
      </p:sp>
      <p:sp>
        <p:nvSpPr>
          <p:cNvPr id="178" name="Shape 17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0" y="4736592"/>
            <a:ext cx="91440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0" name="Text 176"/>
          <p:cNvSpPr txBox="1"/>
          <p:nvPr/>
        </p:nvSpPr>
        <p:spPr>
          <a:xfrm>
            <a:off x="137160" y="4773168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Source: FI 102 – TF Financial Statement  |  TF5C35TZ24481  |  22-Sep-2026</a:t>
            </a:r>
            <a:endParaRPr lang="en-US" sz="650" dirty="0"/>
          </a:p>
        </p:txBody>
      </p:sp>
      <p:sp>
        <p:nvSpPr>
          <p:cNvPr id="181" name="Text 177"/>
          <p:cNvSpPr txBox="1"/>
          <p:nvPr/>
        </p:nvSpPr>
        <p:spPr>
          <a:xfrm>
            <a:off x="137160" y="4910328"/>
            <a:ext cx="7132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Training (5023): 651% burn  ·  ⚠ Non-Exp. Equip. (5025): $34,646 commits exceed budget  ·  ⚠ Workshop (5031): $5,731 vs $0</a:t>
            </a:r>
            <a:endParaRPr lang="en-US" sz="600" dirty="0"/>
          </a:p>
        </p:txBody>
      </p:sp>
      <p:sp>
        <p:nvSpPr>
          <p:cNvPr id="182" name="Text 178"/>
          <p:cNvSpPr txBox="1"/>
          <p:nvPr/>
        </p:nvSpPr>
        <p:spPr>
          <a:xfrm>
            <a:off x="6858000" y="4828032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D4DAT Joint Programme | September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2026-09-22T12:07:54Z</dcterms:created>
  <dcterms:modified xsi:type="dcterms:W3CDTF">2026-09-22T12:07:54Z</dcterms:modified>
</cp:coreProperties>
</file>