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spPr>
            <a:solidFill>
              <a:srgbClr val="86EFA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Consultants</c:v>
                  </c:pt>
                  <c:pt idx="1">
                    <c:v>Contracts</c:v>
                  </c:pt>
                  <c:pt idx="2">
                    <c:v>Travel</c:v>
                  </c:pt>
                  <c:pt idx="3">
                    <c:v>Training</c:v>
                  </c:pt>
                  <c:pt idx="4">
                    <c:v>Exp. Proc.</c:v>
                  </c:pt>
                  <c:pt idx="5">
                    <c:v>Non-Exp. Eq.</c:v>
                  </c:pt>
                  <c:pt idx="6">
                    <c:v>Tech. Support</c:v>
                  </c:pt>
                  <c:pt idx="7">
                    <c:v>Gen. Operating</c:v>
                  </c:pt>
                  <c:pt idx="8">
                    <c:v>Support Costs</c:v>
                  </c:pt>
                  <c:pt idx="9">
                    <c:v>Workshop</c:v>
                  </c:pt>
                  <c:pt idx="10">
                    <c:v>Common Svcs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89636</c:v>
                </c:pt>
                <c:pt idx="1">
                  <c:v>452248</c:v>
                </c:pt>
                <c:pt idx="2">
                  <c:v>134866</c:v>
                </c:pt>
                <c:pt idx="3">
                  <c:v>2215</c:v>
                </c:pt>
                <c:pt idx="4">
                  <c:v>78832</c:v>
                </c:pt>
                <c:pt idx="5">
                  <c:v>12352</c:v>
                </c:pt>
                <c:pt idx="6">
                  <c:v>44128</c:v>
                </c:pt>
                <c:pt idx="7">
                  <c:v>50539</c:v>
                </c:pt>
                <c:pt idx="8">
                  <c:v>62151</c:v>
                </c:pt>
                <c:pt idx="9">
                  <c:v>0</c:v>
                </c:pt>
                <c:pt idx="10">
                  <c:v>23050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Actuals</c:v>
                </c:pt>
              </c:strCache>
            </c:strRef>
          </c:tx>
          <c:spPr>
            <a:solidFill>
              <a:srgbClr val="04785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Consultants</c:v>
                  </c:pt>
                  <c:pt idx="1">
                    <c:v>Contracts</c:v>
                  </c:pt>
                  <c:pt idx="2">
                    <c:v>Travel</c:v>
                  </c:pt>
                  <c:pt idx="3">
                    <c:v>Training</c:v>
                  </c:pt>
                  <c:pt idx="4">
                    <c:v>Exp. Proc.</c:v>
                  </c:pt>
                  <c:pt idx="5">
                    <c:v>Non-Exp. Eq.</c:v>
                  </c:pt>
                  <c:pt idx="6">
                    <c:v>Tech. Support</c:v>
                  </c:pt>
                  <c:pt idx="7">
                    <c:v>Gen. Operating</c:v>
                  </c:pt>
                  <c:pt idx="8">
                    <c:v>Support Costs</c:v>
                  </c:pt>
                  <c:pt idx="9">
                    <c:v>Workshop</c:v>
                  </c:pt>
                  <c:pt idx="10">
                    <c:v>Common Svcs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82180</c:v>
                </c:pt>
                <c:pt idx="1">
                  <c:v>0</c:v>
                </c:pt>
                <c:pt idx="2">
                  <c:v>95127</c:v>
                </c:pt>
                <c:pt idx="3">
                  <c:v>14420</c:v>
                </c:pt>
                <c:pt idx="4">
                  <c:v>6890</c:v>
                </c:pt>
                <c:pt idx="5">
                  <c:v>0</c:v>
                </c:pt>
                <c:pt idx="6">
                  <c:v>11057</c:v>
                </c:pt>
                <c:pt idx="7">
                  <c:v>11662</c:v>
                </c:pt>
                <c:pt idx="8">
                  <c:v>17008</c:v>
                </c:pt>
                <c:pt idx="9">
                  <c:v>5731</c:v>
                </c:pt>
                <c:pt idx="10">
                  <c:v>18029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Commitments</c:v>
                </c:pt>
              </c:strCache>
            </c:strRef>
          </c:tx>
          <c:spPr>
            <a:solidFill>
              <a:srgbClr val="FB923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Consultants</c:v>
                  </c:pt>
                  <c:pt idx="1">
                    <c:v>Contracts</c:v>
                  </c:pt>
                  <c:pt idx="2">
                    <c:v>Travel</c:v>
                  </c:pt>
                  <c:pt idx="3">
                    <c:v>Training</c:v>
                  </c:pt>
                  <c:pt idx="4">
                    <c:v>Exp. Proc.</c:v>
                  </c:pt>
                  <c:pt idx="5">
                    <c:v>Non-Exp. Eq.</c:v>
                  </c:pt>
                  <c:pt idx="6">
                    <c:v>Tech. Support</c:v>
                  </c:pt>
                  <c:pt idx="7">
                    <c:v>Gen. Operating</c:v>
                  </c:pt>
                  <c:pt idx="8">
                    <c:v>Support Costs</c:v>
                  </c:pt>
                  <c:pt idx="9">
                    <c:v>Workshop</c:v>
                  </c:pt>
                  <c:pt idx="10">
                    <c:v>Common Svcs</c:v>
                  </c:pt>
                </c:lvl>
              </c:multiLvlStrCache>
            </c:multiLvl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5612</c:v>
                </c:pt>
                <c:pt idx="1">
                  <c:v>90000</c:v>
                </c:pt>
                <c:pt idx="2">
                  <c:v>2165</c:v>
                </c:pt>
                <c:pt idx="3">
                  <c:v>0</c:v>
                </c:pt>
                <c:pt idx="4">
                  <c:v>4576</c:v>
                </c:pt>
                <c:pt idx="5">
                  <c:v>34646</c:v>
                </c:pt>
                <c:pt idx="6">
                  <c:v>0</c:v>
                </c:pt>
                <c:pt idx="7">
                  <c:v>121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900000"/>
          <a:lstStyle/>
          <a:p>
            <a:pPr>
              <a:defRPr sz="800" b="0" i="0" u="none" strike="noStrike">
                <a:solidFill>
                  <a:srgbClr val="7A9A8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9E5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A9A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C2626"/>
              </a:solidFill>
              <a:effectLst/>
            </c:spPr>
          </c:dPt>
          <c:dPt>
            <c:idx val="1"/>
            <c:bubble3D val="0"/>
            <c:spPr>
              <a:solidFill>
                <a:srgbClr val="D9E5E0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Burned (27.6%)</c:v>
                </c:pt>
                <c:pt idx="1">
                  <c:v>Available (72.4%)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27.6</c:v>
                </c:pt>
                <c:pt idx="1">
                  <c:v>72.4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30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0" y="0"/>
            <a:ext cx="3291840" cy="5143500"/>
          </a:xfrm>
          <a:prstGeom prst="rect">
            <a:avLst/>
          </a:prstGeom>
          <a:solidFill>
            <a:srgbClr val="1A5C42"/>
          </a:solidFill>
          <a:ln w="12700">
            <a:solidFill>
              <a:srgbClr val="1A5C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760720" y="0"/>
            <a:ext cx="73152" cy="5143500"/>
          </a:xfrm>
          <a:prstGeom prst="rect">
            <a:avLst/>
          </a:prstGeom>
          <a:solidFill>
            <a:srgbClr val="E07C2A"/>
          </a:solidFill>
          <a:ln w="12700">
            <a:solidFill>
              <a:srgbClr val="E07C2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822960"/>
            <a:ext cx="5120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Monitoring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Burn Rate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33756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EC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UNJP/URT/167/UNJ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63016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for Digital Agriculture Transformation (D4DAT)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90448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TF5C35TZ24481  ·  FAO Trust Fund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263640" y="502920"/>
            <a:ext cx="2286000" cy="822960"/>
          </a:xfrm>
          <a:prstGeom prst="rect">
            <a:avLst/>
          </a:prstGeom>
          <a:solidFill>
            <a:srgbClr val="E07C2A"/>
          </a:solidFill>
          <a:ln w="12700">
            <a:solidFill>
              <a:srgbClr val="E07C2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63640" y="5029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 102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263640" y="15544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A9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BUDGET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179222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$950,017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6263640" y="24688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A9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 RATE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6263640" y="270662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27.6%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263640" y="33832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A9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6263640" y="362102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$550,793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0" y="4709160"/>
            <a:ext cx="5760720" cy="434340"/>
          </a:xfrm>
          <a:prstGeom prst="rect">
            <a:avLst/>
          </a:prstGeom>
          <a:solidFill>
            <a:srgbClr val="1A5C42"/>
          </a:solidFill>
          <a:ln w="12700">
            <a:solidFill>
              <a:srgbClr val="1A5C4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74320" y="4709160"/>
            <a:ext cx="54864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Run: 22-Sep-2026  ·  Period: Nov 1997 – Dec 2030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DF2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3028"/>
          </a:solidFill>
          <a:ln w="12700">
            <a:solidFill>
              <a:srgbClr val="0F302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Performance Indicators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6675120" y="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EC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 102 | September 2026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F3028"/>
          </a:solidFill>
          <a:ln w="12700">
            <a:solidFill>
              <a:srgbClr val="0F302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74320" y="4663440"/>
            <a:ext cx="59436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FI 102 – TF Financial Statement | TF5C35TZ24481 | 22-Sep-2026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6217920" y="4663440"/>
            <a:ext cx="27432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9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D4DAT Joint Programme | September 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731520"/>
            <a:ext cx="1682496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E0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82880" y="731520"/>
            <a:ext cx="1682496" cy="54864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74320" y="822960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BUDGET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256032" y="1024128"/>
            <a:ext cx="15361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$950,017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256032" y="1618488"/>
            <a:ext cx="1536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9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allocation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956816" y="731520"/>
            <a:ext cx="1682496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E0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956816" y="731520"/>
            <a:ext cx="1682496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048256" y="822960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FUNDS RECEIVED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2029968" y="1024128"/>
            <a:ext cx="15361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$593,696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2029968" y="1618488"/>
            <a:ext cx="1536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9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Contributions received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730752" y="731520"/>
            <a:ext cx="1682496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E0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730752" y="731520"/>
            <a:ext cx="1682496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822192" y="822960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ACTUALS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3803904" y="1024128"/>
            <a:ext cx="15361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$262,104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3803904" y="1618488"/>
            <a:ext cx="1536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9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Expenditure to date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504688" y="731520"/>
            <a:ext cx="1682496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E0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504688" y="731520"/>
            <a:ext cx="1682496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596128" y="822960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COMMITMENTS</a:t>
            </a:r>
            <a:endParaRPr lang="en-US" sz="800" dirty="0"/>
          </a:p>
        </p:txBody>
      </p:sp>
      <p:sp>
        <p:nvSpPr>
          <p:cNvPr id="26" name="Text 24"/>
          <p:cNvSpPr txBox="1"/>
          <p:nvPr/>
        </p:nvSpPr>
        <p:spPr>
          <a:xfrm>
            <a:off x="5577840" y="1024128"/>
            <a:ext cx="15361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$137,120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5577840" y="1618488"/>
            <a:ext cx="1536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9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$90,121 · Hard $46,999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7278624" y="731520"/>
            <a:ext cx="1682496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E0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7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278624" y="731520"/>
            <a:ext cx="1682496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370064" y="822960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 RATE</a:t>
            </a:r>
            <a:endParaRPr lang="en-US" sz="800" dirty="0"/>
          </a:p>
        </p:txBody>
      </p:sp>
      <p:sp>
        <p:nvSpPr>
          <p:cNvPr id="31" name="Text 29"/>
          <p:cNvSpPr txBox="1"/>
          <p:nvPr/>
        </p:nvSpPr>
        <p:spPr>
          <a:xfrm>
            <a:off x="7351776" y="1024128"/>
            <a:ext cx="15361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27.6%</a:t>
            </a:r>
            <a:endParaRPr lang="en-US" sz="2000" dirty="0"/>
          </a:p>
        </p:txBody>
      </p:sp>
      <p:sp>
        <p:nvSpPr>
          <p:cNvPr id="32" name="Text 30"/>
          <p:cNvSpPr txBox="1"/>
          <p:nvPr/>
        </p:nvSpPr>
        <p:spPr>
          <a:xfrm>
            <a:off x="7351776" y="1618488"/>
            <a:ext cx="1536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9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Actuals / Total Budget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182880" y="2240280"/>
            <a:ext cx="877824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E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65760" y="2331720"/>
            <a:ext cx="36576" cy="32004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75488" y="23317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Utilization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402336" y="2715768"/>
            <a:ext cx="272491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8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$262,104 actuals spent of $950,017 total budget. Overall burn rate 27.6% — project in early-to-mid execution phase.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291840" y="2331720"/>
            <a:ext cx="36576" cy="3200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3401568" y="23317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Commitment Status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3328416" y="2715768"/>
            <a:ext cx="272491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8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commitments $137,120 (Soft $90,121 + Hard $46,999). Combined exposure $399,224 = 42% of approved budget.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217920" y="2331720"/>
            <a:ext cx="36576" cy="320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327648" y="23317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Position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6254496" y="2715768"/>
            <a:ext cx="272491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8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Funds received $593,696 = 62.5% of approved budget. Outstanding balance $356,321. Available budget: $550,793.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DF2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3028"/>
          </a:solidFill>
          <a:ln w="12700">
            <a:solidFill>
              <a:srgbClr val="0F302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Allocation vs Actuals by Category (USD)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6675120" y="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EC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figures in USD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F3028"/>
          </a:solidFill>
          <a:ln w="12700">
            <a:solidFill>
              <a:srgbClr val="0F302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74320" y="4663440"/>
            <a:ext cx="59436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FI 102 – TF Financial Statement | TF5C35TZ24481 | 22-Sep-2026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6217920" y="4663440"/>
            <a:ext cx="27432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9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D4DAT Joint Programme | September 2026</a:t>
            </a:r>
            <a:endParaRPr lang="en-US" sz="9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182880" y="658368"/>
          <a:ext cx="8778240" cy="385876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DF2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3028"/>
          </a:solidFill>
          <a:ln w="12700">
            <a:solidFill>
              <a:srgbClr val="0F302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 Rate &amp; Delivery Analysis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6675120" y="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EC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of 22-Sep-2026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F3028"/>
          </a:solidFill>
          <a:ln w="12700">
            <a:solidFill>
              <a:srgbClr val="0F302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74320" y="4663440"/>
            <a:ext cx="59436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FI 102 – TF Financial Statement | TF5C35TZ24481 | 22-Sep-2026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6217920" y="4663440"/>
            <a:ext cx="27432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9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D4DAT Joint Programme | September 2026</a:t>
            </a:r>
            <a:endParaRPr lang="en-US" sz="9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182880" y="685800"/>
          <a:ext cx="320040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 txBox="1"/>
          <p:nvPr/>
        </p:nvSpPr>
        <p:spPr>
          <a:xfrm>
            <a:off x="365760" y="169164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27.6%</a:t>
            </a:r>
            <a:endParaRPr lang="en-US" sz="3600" dirty="0"/>
          </a:p>
        </p:txBody>
      </p:sp>
      <p:sp>
        <p:nvSpPr>
          <p:cNvPr id="10" name="Text 7"/>
          <p:cNvSpPr txBox="1"/>
          <p:nvPr/>
        </p:nvSpPr>
        <p:spPr>
          <a:xfrm>
            <a:off x="365760" y="24231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A9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BURNED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657600" y="749808"/>
            <a:ext cx="521208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E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657600" y="749808"/>
            <a:ext cx="54864" cy="667512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794760" y="804672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$262,104 / $950,017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3794760" y="1143000"/>
            <a:ext cx="4983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Actuals / Total Budget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3657600" y="1554480"/>
            <a:ext cx="521208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E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657600" y="1554480"/>
            <a:ext cx="54864" cy="66751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794760" y="1609344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$399,224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3794760" y="1947672"/>
            <a:ext cx="4983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Commitments &amp; Actuals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3657600" y="2359152"/>
            <a:ext cx="521208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E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657600" y="2359152"/>
            <a:ext cx="54864" cy="66751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3794760" y="2414016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$550,793</a:t>
            </a:r>
            <a:endParaRPr lang="en-US" sz="1700" dirty="0"/>
          </a:p>
        </p:txBody>
      </p:sp>
      <p:sp>
        <p:nvSpPr>
          <p:cNvPr id="22" name="Text 19"/>
          <p:cNvSpPr txBox="1"/>
          <p:nvPr/>
        </p:nvSpPr>
        <p:spPr>
          <a:xfrm>
            <a:off x="3794760" y="2752344"/>
            <a:ext cx="4983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Budget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3657600" y="3163824"/>
            <a:ext cx="521208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E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3657600" y="3163824"/>
            <a:ext cx="54864" cy="6675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3794760" y="3218688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$593,696</a:t>
            </a:r>
            <a:endParaRPr lang="en-US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3794760" y="3557016"/>
            <a:ext cx="4983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Funds Received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3657600" y="4169664"/>
            <a:ext cx="5212080" cy="32004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749040" y="4169664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3 line items have budget overruns — see Slide 6 for details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DF2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3028"/>
          </a:solidFill>
          <a:ln w="12700">
            <a:solidFill>
              <a:srgbClr val="0F302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Summary by Line Item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6675120" y="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EC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TF5C35TZ24481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F3028"/>
          </a:solidFill>
          <a:ln w="12700">
            <a:solidFill>
              <a:srgbClr val="0F302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74320" y="4663440"/>
            <a:ext cx="59436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FI 102 – TF Financial Statement | TF5C35TZ24481 | 22-Sep-2026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6217920" y="4663440"/>
            <a:ext cx="27432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9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D4DAT Joint Programme | September 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658368"/>
            <a:ext cx="1920240" cy="274320"/>
          </a:xfrm>
          <a:prstGeom prst="rect">
            <a:avLst/>
          </a:prstGeom>
          <a:solidFill>
            <a:srgbClr val="0F3028"/>
          </a:solidFill>
          <a:ln w="12700">
            <a:solidFill>
              <a:srgbClr val="0F302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28600" y="6583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Item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103120" y="658368"/>
            <a:ext cx="1188720" cy="274320"/>
          </a:xfrm>
          <a:prstGeom prst="rect">
            <a:avLst/>
          </a:prstGeom>
          <a:solidFill>
            <a:srgbClr val="0F3028"/>
          </a:solidFill>
          <a:ln w="12700">
            <a:solidFill>
              <a:srgbClr val="0F302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148840" y="6583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($)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91840" y="658368"/>
            <a:ext cx="1188720" cy="274320"/>
          </a:xfrm>
          <a:prstGeom prst="rect">
            <a:avLst/>
          </a:prstGeom>
          <a:solidFill>
            <a:srgbClr val="0F3028"/>
          </a:solidFill>
          <a:ln w="12700">
            <a:solidFill>
              <a:srgbClr val="0F302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337560" y="6583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Actuals ($)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480560" y="658368"/>
            <a:ext cx="1188720" cy="274320"/>
          </a:xfrm>
          <a:prstGeom prst="rect">
            <a:avLst/>
          </a:prstGeom>
          <a:solidFill>
            <a:srgbClr val="0F3028"/>
          </a:solidFill>
          <a:ln w="12700">
            <a:solidFill>
              <a:srgbClr val="0F302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26280" y="6583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 ($)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669280" y="658368"/>
            <a:ext cx="914400" cy="274320"/>
          </a:xfrm>
          <a:prstGeom prst="rect">
            <a:avLst/>
          </a:prstGeom>
          <a:solidFill>
            <a:srgbClr val="0F3028"/>
          </a:solidFill>
          <a:ln w="12700">
            <a:solidFill>
              <a:srgbClr val="0F302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715000" y="6583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 %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583680" y="658368"/>
            <a:ext cx="1463040" cy="274320"/>
          </a:xfrm>
          <a:prstGeom prst="rect">
            <a:avLst/>
          </a:prstGeom>
          <a:solidFill>
            <a:srgbClr val="0F3028"/>
          </a:solidFill>
          <a:ln w="12700">
            <a:solidFill>
              <a:srgbClr val="0F302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629400" y="6583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($)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182880" y="932688"/>
            <a:ext cx="19202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E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28600" y="95097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8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Consultants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103120" y="932688"/>
            <a:ext cx="11887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E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148840" y="95097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8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89,636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291840" y="932688"/>
            <a:ext cx="11887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E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337560" y="95097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8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82,180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480560" y="932688"/>
            <a:ext cx="11887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E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526280" y="95097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8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5,612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669280" y="932688"/>
            <a:ext cx="9144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E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715000" y="950976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91.7%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583680" y="932688"/>
            <a:ext cx="14630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E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629400" y="95097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8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1,844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182880" y="1207008"/>
            <a:ext cx="1920240" cy="274320"/>
          </a:xfrm>
          <a:prstGeom prst="rect">
            <a:avLst/>
          </a:prstGeom>
          <a:solidFill>
            <a:srgbClr val="F4F8F6"/>
          </a:solidFill>
          <a:ln w="12700">
            <a:solidFill>
              <a:srgbClr val="D9E5E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228600" y="122529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8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103120" y="1207008"/>
            <a:ext cx="1188720" cy="274320"/>
          </a:xfrm>
          <a:prstGeom prst="rect">
            <a:avLst/>
          </a:prstGeom>
          <a:solidFill>
            <a:srgbClr val="F4F8F6"/>
          </a:solidFill>
          <a:ln w="12700">
            <a:solidFill>
              <a:srgbClr val="D9E5E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2148840" y="122529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8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452,248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291840" y="1207008"/>
            <a:ext cx="1188720" cy="274320"/>
          </a:xfrm>
          <a:prstGeom prst="rect">
            <a:avLst/>
          </a:prstGeom>
          <a:solidFill>
            <a:srgbClr val="F4F8F6"/>
          </a:solidFill>
          <a:ln w="12700">
            <a:solidFill>
              <a:srgbClr val="D9E5E0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3337560" y="122529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8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480560" y="1207008"/>
            <a:ext cx="1188720" cy="274320"/>
          </a:xfrm>
          <a:prstGeom prst="rect">
            <a:avLst/>
          </a:prstGeom>
          <a:solidFill>
            <a:srgbClr val="F4F8F6"/>
          </a:solidFill>
          <a:ln w="12700">
            <a:solidFill>
              <a:srgbClr val="D9E5E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4526280" y="122529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8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90,000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5669280" y="1207008"/>
            <a:ext cx="914400" cy="274320"/>
          </a:xfrm>
          <a:prstGeom prst="rect">
            <a:avLst/>
          </a:prstGeom>
          <a:solidFill>
            <a:srgbClr val="F4F8F6"/>
          </a:solidFill>
          <a:ln w="12700">
            <a:solidFill>
              <a:srgbClr val="D9E5E0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715000" y="1225296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583680" y="1207008"/>
            <a:ext cx="1463040" cy="274320"/>
          </a:xfrm>
          <a:prstGeom prst="rect">
            <a:avLst/>
          </a:prstGeom>
          <a:solidFill>
            <a:srgbClr val="F4F8F6"/>
          </a:solidFill>
          <a:ln w="12700">
            <a:solidFill>
              <a:srgbClr val="D9E5E0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629400" y="122529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8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362,248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182880" y="1481328"/>
            <a:ext cx="19202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E0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228600" y="149961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8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103120" y="1481328"/>
            <a:ext cx="11887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E0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2148840" y="149961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8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134,866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3291840" y="1481328"/>
            <a:ext cx="11887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E0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3337560" y="149961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8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95,127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4480560" y="1481328"/>
            <a:ext cx="11887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E0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4526280" y="149961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8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2,165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5669280" y="1481328"/>
            <a:ext cx="9144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E0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5715000" y="1499616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70.5%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6583680" y="1481328"/>
            <a:ext cx="14630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E0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6629400" y="149961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8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37,574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182880" y="1755648"/>
            <a:ext cx="1920240" cy="274320"/>
          </a:xfrm>
          <a:prstGeom prst="rect">
            <a:avLst/>
          </a:prstGeom>
          <a:solidFill>
            <a:srgbClr val="FFF5F5"/>
          </a:solidFill>
          <a:ln w="12700">
            <a:solidFill>
              <a:srgbClr val="D9E5E0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228600" y="177393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2103120" y="1755648"/>
            <a:ext cx="1188720" cy="274320"/>
          </a:xfrm>
          <a:prstGeom prst="rect">
            <a:avLst/>
          </a:prstGeom>
          <a:solidFill>
            <a:srgbClr val="FFF5F5"/>
          </a:solidFill>
          <a:ln w="12700">
            <a:solidFill>
              <a:srgbClr val="D9E5E0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2148840" y="177393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2,215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3291840" y="1755648"/>
            <a:ext cx="1188720" cy="274320"/>
          </a:xfrm>
          <a:prstGeom prst="rect">
            <a:avLst/>
          </a:prstGeom>
          <a:solidFill>
            <a:srgbClr val="FFF5F5"/>
          </a:solidFill>
          <a:ln w="12700">
            <a:solidFill>
              <a:srgbClr val="D9E5E0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3337560" y="177393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14,420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4480560" y="1755648"/>
            <a:ext cx="1188720" cy="274320"/>
          </a:xfrm>
          <a:prstGeom prst="rect">
            <a:avLst/>
          </a:prstGeom>
          <a:solidFill>
            <a:srgbClr val="FFF5F5"/>
          </a:solidFill>
          <a:ln w="12700">
            <a:solidFill>
              <a:srgbClr val="D9E5E0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4526280" y="177393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5669280" y="1755648"/>
            <a:ext cx="914400" cy="274320"/>
          </a:xfrm>
          <a:prstGeom prst="rect">
            <a:avLst/>
          </a:prstGeom>
          <a:solidFill>
            <a:srgbClr val="FFF5F5"/>
          </a:solidFill>
          <a:ln w="12700">
            <a:solidFill>
              <a:srgbClr val="D9E5E0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5715000" y="1773936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651%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6583680" y="1755648"/>
            <a:ext cx="1463040" cy="274320"/>
          </a:xfrm>
          <a:prstGeom prst="rect">
            <a:avLst/>
          </a:prstGeom>
          <a:solidFill>
            <a:srgbClr val="FFF5F5"/>
          </a:solidFill>
          <a:ln w="12700">
            <a:solidFill>
              <a:srgbClr val="D9E5E0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6629400" y="177393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(12,205)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182880" y="2029968"/>
            <a:ext cx="19202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E0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228600" y="204825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8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Expendable Proc.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2103120" y="2029968"/>
            <a:ext cx="11887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E0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2148840" y="204825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8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78,832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3291840" y="2029968"/>
            <a:ext cx="11887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E0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3337560" y="204825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8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6,890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4480560" y="2029968"/>
            <a:ext cx="11887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E0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4526280" y="204825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8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4,576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5669280" y="2029968"/>
            <a:ext cx="9144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E0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5715000" y="2048256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8.7%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6583680" y="2029968"/>
            <a:ext cx="14630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E0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6629400" y="204825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8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67,366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182880" y="2304288"/>
            <a:ext cx="1920240" cy="274320"/>
          </a:xfrm>
          <a:prstGeom prst="rect">
            <a:avLst/>
          </a:prstGeom>
          <a:solidFill>
            <a:srgbClr val="FFF5F5"/>
          </a:solidFill>
          <a:ln w="12700">
            <a:solidFill>
              <a:srgbClr val="D9E5E0"/>
            </a:solidFill>
            <a:prstDash val="solid"/>
          </a:ln>
        </p:spPr>
      </p:sp>
      <p:sp>
        <p:nvSpPr>
          <p:cNvPr id="81" name="Text 79"/>
          <p:cNvSpPr txBox="1"/>
          <p:nvPr/>
        </p:nvSpPr>
        <p:spPr>
          <a:xfrm>
            <a:off x="228600" y="232257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Non-Exp. Equip.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2103120" y="2304288"/>
            <a:ext cx="1188720" cy="274320"/>
          </a:xfrm>
          <a:prstGeom prst="rect">
            <a:avLst/>
          </a:prstGeom>
          <a:solidFill>
            <a:srgbClr val="FFF5F5"/>
          </a:solidFill>
          <a:ln w="12700">
            <a:solidFill>
              <a:srgbClr val="D9E5E0"/>
            </a:solidFill>
            <a:prstDash val="solid"/>
          </a:ln>
        </p:spPr>
      </p:sp>
      <p:sp>
        <p:nvSpPr>
          <p:cNvPr id="83" name="Text 81"/>
          <p:cNvSpPr txBox="1"/>
          <p:nvPr/>
        </p:nvSpPr>
        <p:spPr>
          <a:xfrm>
            <a:off x="2148840" y="232257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12,352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3291840" y="2304288"/>
            <a:ext cx="1188720" cy="274320"/>
          </a:xfrm>
          <a:prstGeom prst="rect">
            <a:avLst/>
          </a:prstGeom>
          <a:solidFill>
            <a:srgbClr val="FFF5F5"/>
          </a:solidFill>
          <a:ln w="12700">
            <a:solidFill>
              <a:srgbClr val="D9E5E0"/>
            </a:solidFill>
            <a:prstDash val="solid"/>
          </a:ln>
        </p:spPr>
      </p:sp>
      <p:sp>
        <p:nvSpPr>
          <p:cNvPr id="85" name="Text 83"/>
          <p:cNvSpPr txBox="1"/>
          <p:nvPr/>
        </p:nvSpPr>
        <p:spPr>
          <a:xfrm>
            <a:off x="3337560" y="232257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50" dirty="0"/>
          </a:p>
        </p:txBody>
      </p:sp>
      <p:sp>
        <p:nvSpPr>
          <p:cNvPr id="86" name="Shape 84"/>
          <p:cNvSpPr/>
          <p:nvPr/>
        </p:nvSpPr>
        <p:spPr>
          <a:xfrm>
            <a:off x="4480560" y="2304288"/>
            <a:ext cx="1188720" cy="274320"/>
          </a:xfrm>
          <a:prstGeom prst="rect">
            <a:avLst/>
          </a:prstGeom>
          <a:solidFill>
            <a:srgbClr val="FFF5F5"/>
          </a:solidFill>
          <a:ln w="12700">
            <a:solidFill>
              <a:srgbClr val="D9E5E0"/>
            </a:solidFill>
            <a:prstDash val="solid"/>
          </a:ln>
        </p:spPr>
      </p:sp>
      <p:sp>
        <p:nvSpPr>
          <p:cNvPr id="87" name="Text 85"/>
          <p:cNvSpPr txBox="1"/>
          <p:nvPr/>
        </p:nvSpPr>
        <p:spPr>
          <a:xfrm>
            <a:off x="4526280" y="232257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34,646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5669280" y="2304288"/>
            <a:ext cx="914400" cy="274320"/>
          </a:xfrm>
          <a:prstGeom prst="rect">
            <a:avLst/>
          </a:prstGeom>
          <a:solidFill>
            <a:srgbClr val="FFF5F5"/>
          </a:solidFill>
          <a:ln w="12700">
            <a:solidFill>
              <a:srgbClr val="D9E5E0"/>
            </a:solidFill>
            <a:prstDash val="solid"/>
          </a:ln>
        </p:spPr>
      </p:sp>
      <p:sp>
        <p:nvSpPr>
          <p:cNvPr id="89" name="Text 87"/>
          <p:cNvSpPr txBox="1"/>
          <p:nvPr/>
        </p:nvSpPr>
        <p:spPr>
          <a:xfrm>
            <a:off x="5715000" y="2322576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850" dirty="0"/>
          </a:p>
        </p:txBody>
      </p:sp>
      <p:sp>
        <p:nvSpPr>
          <p:cNvPr id="90" name="Shape 88"/>
          <p:cNvSpPr/>
          <p:nvPr/>
        </p:nvSpPr>
        <p:spPr>
          <a:xfrm>
            <a:off x="6583680" y="2304288"/>
            <a:ext cx="1463040" cy="274320"/>
          </a:xfrm>
          <a:prstGeom prst="rect">
            <a:avLst/>
          </a:prstGeom>
          <a:solidFill>
            <a:srgbClr val="FFF5F5"/>
          </a:solidFill>
          <a:ln w="12700">
            <a:solidFill>
              <a:srgbClr val="D9E5E0"/>
            </a:solidFill>
            <a:prstDash val="solid"/>
          </a:ln>
        </p:spPr>
      </p:sp>
      <p:sp>
        <p:nvSpPr>
          <p:cNvPr id="91" name="Text 89"/>
          <p:cNvSpPr txBox="1"/>
          <p:nvPr/>
        </p:nvSpPr>
        <p:spPr>
          <a:xfrm>
            <a:off x="6629400" y="232257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(22,294)</a:t>
            </a:r>
            <a:endParaRPr lang="en-US" sz="850" dirty="0"/>
          </a:p>
        </p:txBody>
      </p:sp>
      <p:sp>
        <p:nvSpPr>
          <p:cNvPr id="92" name="Shape 90"/>
          <p:cNvSpPr/>
          <p:nvPr/>
        </p:nvSpPr>
        <p:spPr>
          <a:xfrm>
            <a:off x="182880" y="2578608"/>
            <a:ext cx="19202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E0"/>
            </a:solidFill>
            <a:prstDash val="solid"/>
          </a:ln>
        </p:spPr>
      </p:sp>
      <p:sp>
        <p:nvSpPr>
          <p:cNvPr id="93" name="Text 91"/>
          <p:cNvSpPr txBox="1"/>
          <p:nvPr/>
        </p:nvSpPr>
        <p:spPr>
          <a:xfrm>
            <a:off x="228600" y="259689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8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Tech. Support Svcs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2103120" y="2578608"/>
            <a:ext cx="11887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E0"/>
            </a:solidFill>
            <a:prstDash val="solid"/>
          </a:ln>
        </p:spPr>
      </p:sp>
      <p:sp>
        <p:nvSpPr>
          <p:cNvPr id="95" name="Text 93"/>
          <p:cNvSpPr txBox="1"/>
          <p:nvPr/>
        </p:nvSpPr>
        <p:spPr>
          <a:xfrm>
            <a:off x="2148840" y="259689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8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44,128</a:t>
            </a:r>
            <a:endParaRPr lang="en-US" sz="850" dirty="0"/>
          </a:p>
        </p:txBody>
      </p:sp>
      <p:sp>
        <p:nvSpPr>
          <p:cNvPr id="96" name="Shape 94"/>
          <p:cNvSpPr/>
          <p:nvPr/>
        </p:nvSpPr>
        <p:spPr>
          <a:xfrm>
            <a:off x="3291840" y="2578608"/>
            <a:ext cx="11887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E0"/>
            </a:solidFill>
            <a:prstDash val="solid"/>
          </a:ln>
        </p:spPr>
      </p:sp>
      <p:sp>
        <p:nvSpPr>
          <p:cNvPr id="97" name="Text 95"/>
          <p:cNvSpPr txBox="1"/>
          <p:nvPr/>
        </p:nvSpPr>
        <p:spPr>
          <a:xfrm>
            <a:off x="3337560" y="259689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8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11,057</a:t>
            </a:r>
            <a:endParaRPr lang="en-US" sz="850" dirty="0"/>
          </a:p>
        </p:txBody>
      </p:sp>
      <p:sp>
        <p:nvSpPr>
          <p:cNvPr id="98" name="Shape 96"/>
          <p:cNvSpPr/>
          <p:nvPr/>
        </p:nvSpPr>
        <p:spPr>
          <a:xfrm>
            <a:off x="4480560" y="2578608"/>
            <a:ext cx="11887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E0"/>
            </a:solidFill>
            <a:prstDash val="solid"/>
          </a:ln>
        </p:spPr>
      </p:sp>
      <p:sp>
        <p:nvSpPr>
          <p:cNvPr id="99" name="Text 97"/>
          <p:cNvSpPr txBox="1"/>
          <p:nvPr/>
        </p:nvSpPr>
        <p:spPr>
          <a:xfrm>
            <a:off x="4526280" y="259689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8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50" dirty="0"/>
          </a:p>
        </p:txBody>
      </p:sp>
      <p:sp>
        <p:nvSpPr>
          <p:cNvPr id="100" name="Shape 98"/>
          <p:cNvSpPr/>
          <p:nvPr/>
        </p:nvSpPr>
        <p:spPr>
          <a:xfrm>
            <a:off x="5669280" y="2578608"/>
            <a:ext cx="9144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E0"/>
            </a:solidFill>
            <a:prstDash val="solid"/>
          </a:ln>
        </p:spPr>
      </p:sp>
      <p:sp>
        <p:nvSpPr>
          <p:cNvPr id="101" name="Text 99"/>
          <p:cNvSpPr txBox="1"/>
          <p:nvPr/>
        </p:nvSpPr>
        <p:spPr>
          <a:xfrm>
            <a:off x="5715000" y="2596896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25.1%</a:t>
            </a:r>
            <a:endParaRPr lang="en-US" sz="850" dirty="0"/>
          </a:p>
        </p:txBody>
      </p:sp>
      <p:sp>
        <p:nvSpPr>
          <p:cNvPr id="102" name="Shape 100"/>
          <p:cNvSpPr/>
          <p:nvPr/>
        </p:nvSpPr>
        <p:spPr>
          <a:xfrm>
            <a:off x="6583680" y="2578608"/>
            <a:ext cx="14630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E0"/>
            </a:solidFill>
            <a:prstDash val="solid"/>
          </a:ln>
        </p:spPr>
      </p:sp>
      <p:sp>
        <p:nvSpPr>
          <p:cNvPr id="103" name="Text 101"/>
          <p:cNvSpPr txBox="1"/>
          <p:nvPr/>
        </p:nvSpPr>
        <p:spPr>
          <a:xfrm>
            <a:off x="6629400" y="259689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8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33,071</a:t>
            </a:r>
            <a:endParaRPr lang="en-US" sz="850" dirty="0"/>
          </a:p>
        </p:txBody>
      </p:sp>
      <p:sp>
        <p:nvSpPr>
          <p:cNvPr id="104" name="Shape 102"/>
          <p:cNvSpPr/>
          <p:nvPr/>
        </p:nvSpPr>
        <p:spPr>
          <a:xfrm>
            <a:off x="182880" y="2852928"/>
            <a:ext cx="1920240" cy="274320"/>
          </a:xfrm>
          <a:prstGeom prst="rect">
            <a:avLst/>
          </a:prstGeom>
          <a:solidFill>
            <a:srgbClr val="F4F8F6"/>
          </a:solidFill>
          <a:ln w="12700">
            <a:solidFill>
              <a:srgbClr val="D9E5E0"/>
            </a:solidFill>
            <a:prstDash val="solid"/>
          </a:ln>
        </p:spPr>
      </p:sp>
      <p:sp>
        <p:nvSpPr>
          <p:cNvPr id="105" name="Text 103"/>
          <p:cNvSpPr txBox="1"/>
          <p:nvPr/>
        </p:nvSpPr>
        <p:spPr>
          <a:xfrm>
            <a:off x="228600" y="287121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8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Operating</a:t>
            </a:r>
            <a:endParaRPr lang="en-US" sz="900" dirty="0"/>
          </a:p>
        </p:txBody>
      </p:sp>
      <p:sp>
        <p:nvSpPr>
          <p:cNvPr id="106" name="Shape 104"/>
          <p:cNvSpPr/>
          <p:nvPr/>
        </p:nvSpPr>
        <p:spPr>
          <a:xfrm>
            <a:off x="2103120" y="2852928"/>
            <a:ext cx="1188720" cy="274320"/>
          </a:xfrm>
          <a:prstGeom prst="rect">
            <a:avLst/>
          </a:prstGeom>
          <a:solidFill>
            <a:srgbClr val="F4F8F6"/>
          </a:solidFill>
          <a:ln w="12700">
            <a:solidFill>
              <a:srgbClr val="D9E5E0"/>
            </a:solidFill>
            <a:prstDash val="solid"/>
          </a:ln>
        </p:spPr>
      </p:sp>
      <p:sp>
        <p:nvSpPr>
          <p:cNvPr id="107" name="Text 105"/>
          <p:cNvSpPr txBox="1"/>
          <p:nvPr/>
        </p:nvSpPr>
        <p:spPr>
          <a:xfrm>
            <a:off x="2148840" y="287121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8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50,539</a:t>
            </a:r>
            <a:endParaRPr lang="en-US" sz="850" dirty="0"/>
          </a:p>
        </p:txBody>
      </p:sp>
      <p:sp>
        <p:nvSpPr>
          <p:cNvPr id="108" name="Shape 106"/>
          <p:cNvSpPr/>
          <p:nvPr/>
        </p:nvSpPr>
        <p:spPr>
          <a:xfrm>
            <a:off x="3291840" y="2852928"/>
            <a:ext cx="1188720" cy="274320"/>
          </a:xfrm>
          <a:prstGeom prst="rect">
            <a:avLst/>
          </a:prstGeom>
          <a:solidFill>
            <a:srgbClr val="F4F8F6"/>
          </a:solidFill>
          <a:ln w="12700">
            <a:solidFill>
              <a:srgbClr val="D9E5E0"/>
            </a:solidFill>
            <a:prstDash val="solid"/>
          </a:ln>
        </p:spPr>
      </p:sp>
      <p:sp>
        <p:nvSpPr>
          <p:cNvPr id="109" name="Text 107"/>
          <p:cNvSpPr txBox="1"/>
          <p:nvPr/>
        </p:nvSpPr>
        <p:spPr>
          <a:xfrm>
            <a:off x="3337560" y="287121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8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11,662</a:t>
            </a:r>
            <a:endParaRPr lang="en-US" sz="850" dirty="0"/>
          </a:p>
        </p:txBody>
      </p:sp>
      <p:sp>
        <p:nvSpPr>
          <p:cNvPr id="110" name="Shape 108"/>
          <p:cNvSpPr/>
          <p:nvPr/>
        </p:nvSpPr>
        <p:spPr>
          <a:xfrm>
            <a:off x="4480560" y="2852928"/>
            <a:ext cx="1188720" cy="274320"/>
          </a:xfrm>
          <a:prstGeom prst="rect">
            <a:avLst/>
          </a:prstGeom>
          <a:solidFill>
            <a:srgbClr val="F4F8F6"/>
          </a:solidFill>
          <a:ln w="12700">
            <a:solidFill>
              <a:srgbClr val="D9E5E0"/>
            </a:solidFill>
            <a:prstDash val="solid"/>
          </a:ln>
        </p:spPr>
      </p:sp>
      <p:sp>
        <p:nvSpPr>
          <p:cNvPr id="111" name="Text 109"/>
          <p:cNvSpPr txBox="1"/>
          <p:nvPr/>
        </p:nvSpPr>
        <p:spPr>
          <a:xfrm>
            <a:off x="4526280" y="287121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8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121</a:t>
            </a:r>
            <a:endParaRPr lang="en-US" sz="850" dirty="0"/>
          </a:p>
        </p:txBody>
      </p:sp>
      <p:sp>
        <p:nvSpPr>
          <p:cNvPr id="112" name="Shape 110"/>
          <p:cNvSpPr/>
          <p:nvPr/>
        </p:nvSpPr>
        <p:spPr>
          <a:xfrm>
            <a:off x="5669280" y="2852928"/>
            <a:ext cx="914400" cy="274320"/>
          </a:xfrm>
          <a:prstGeom prst="rect">
            <a:avLst/>
          </a:prstGeom>
          <a:solidFill>
            <a:srgbClr val="F4F8F6"/>
          </a:solidFill>
          <a:ln w="12700">
            <a:solidFill>
              <a:srgbClr val="D9E5E0"/>
            </a:solidFill>
            <a:prstDash val="solid"/>
          </a:ln>
        </p:spPr>
      </p:sp>
      <p:sp>
        <p:nvSpPr>
          <p:cNvPr id="113" name="Text 111"/>
          <p:cNvSpPr txBox="1"/>
          <p:nvPr/>
        </p:nvSpPr>
        <p:spPr>
          <a:xfrm>
            <a:off x="5715000" y="2871216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23.1%</a:t>
            </a:r>
            <a:endParaRPr lang="en-US" sz="850" dirty="0"/>
          </a:p>
        </p:txBody>
      </p:sp>
      <p:sp>
        <p:nvSpPr>
          <p:cNvPr id="114" name="Shape 112"/>
          <p:cNvSpPr/>
          <p:nvPr/>
        </p:nvSpPr>
        <p:spPr>
          <a:xfrm>
            <a:off x="6583680" y="2852928"/>
            <a:ext cx="1463040" cy="274320"/>
          </a:xfrm>
          <a:prstGeom prst="rect">
            <a:avLst/>
          </a:prstGeom>
          <a:solidFill>
            <a:srgbClr val="F4F8F6"/>
          </a:solidFill>
          <a:ln w="12700">
            <a:solidFill>
              <a:srgbClr val="D9E5E0"/>
            </a:solidFill>
            <a:prstDash val="solid"/>
          </a:ln>
        </p:spPr>
      </p:sp>
      <p:sp>
        <p:nvSpPr>
          <p:cNvPr id="115" name="Text 113"/>
          <p:cNvSpPr txBox="1"/>
          <p:nvPr/>
        </p:nvSpPr>
        <p:spPr>
          <a:xfrm>
            <a:off x="6629400" y="287121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8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38,756</a:t>
            </a:r>
            <a:endParaRPr lang="en-US" sz="850" dirty="0"/>
          </a:p>
        </p:txBody>
      </p:sp>
      <p:sp>
        <p:nvSpPr>
          <p:cNvPr id="116" name="Shape 114"/>
          <p:cNvSpPr/>
          <p:nvPr/>
        </p:nvSpPr>
        <p:spPr>
          <a:xfrm>
            <a:off x="182880" y="3127248"/>
            <a:ext cx="19202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E0"/>
            </a:solidFill>
            <a:prstDash val="solid"/>
          </a:ln>
        </p:spPr>
      </p:sp>
      <p:sp>
        <p:nvSpPr>
          <p:cNvPr id="117" name="Text 115"/>
          <p:cNvSpPr txBox="1"/>
          <p:nvPr/>
        </p:nvSpPr>
        <p:spPr>
          <a:xfrm>
            <a:off x="228600" y="314553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8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Costs</a:t>
            </a:r>
            <a:endParaRPr lang="en-US" sz="900" dirty="0"/>
          </a:p>
        </p:txBody>
      </p:sp>
      <p:sp>
        <p:nvSpPr>
          <p:cNvPr id="118" name="Shape 116"/>
          <p:cNvSpPr/>
          <p:nvPr/>
        </p:nvSpPr>
        <p:spPr>
          <a:xfrm>
            <a:off x="2103120" y="3127248"/>
            <a:ext cx="11887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E0"/>
            </a:solidFill>
            <a:prstDash val="solid"/>
          </a:ln>
        </p:spPr>
      </p:sp>
      <p:sp>
        <p:nvSpPr>
          <p:cNvPr id="119" name="Text 117"/>
          <p:cNvSpPr txBox="1"/>
          <p:nvPr/>
        </p:nvSpPr>
        <p:spPr>
          <a:xfrm>
            <a:off x="2148840" y="314553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8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62,151</a:t>
            </a:r>
            <a:endParaRPr lang="en-US" sz="850" dirty="0"/>
          </a:p>
        </p:txBody>
      </p:sp>
      <p:sp>
        <p:nvSpPr>
          <p:cNvPr id="120" name="Shape 118"/>
          <p:cNvSpPr/>
          <p:nvPr/>
        </p:nvSpPr>
        <p:spPr>
          <a:xfrm>
            <a:off x="3291840" y="3127248"/>
            <a:ext cx="11887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E0"/>
            </a:solidFill>
            <a:prstDash val="solid"/>
          </a:ln>
        </p:spPr>
      </p:sp>
      <p:sp>
        <p:nvSpPr>
          <p:cNvPr id="121" name="Text 119"/>
          <p:cNvSpPr txBox="1"/>
          <p:nvPr/>
        </p:nvSpPr>
        <p:spPr>
          <a:xfrm>
            <a:off x="3337560" y="314553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8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17,008</a:t>
            </a:r>
            <a:endParaRPr lang="en-US" sz="850" dirty="0"/>
          </a:p>
        </p:txBody>
      </p:sp>
      <p:sp>
        <p:nvSpPr>
          <p:cNvPr id="122" name="Shape 120"/>
          <p:cNvSpPr/>
          <p:nvPr/>
        </p:nvSpPr>
        <p:spPr>
          <a:xfrm>
            <a:off x="4480560" y="3127248"/>
            <a:ext cx="11887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E0"/>
            </a:solidFill>
            <a:prstDash val="solid"/>
          </a:ln>
        </p:spPr>
      </p:sp>
      <p:sp>
        <p:nvSpPr>
          <p:cNvPr id="123" name="Text 121"/>
          <p:cNvSpPr txBox="1"/>
          <p:nvPr/>
        </p:nvSpPr>
        <p:spPr>
          <a:xfrm>
            <a:off x="4526280" y="314553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8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50" dirty="0"/>
          </a:p>
        </p:txBody>
      </p:sp>
      <p:sp>
        <p:nvSpPr>
          <p:cNvPr id="124" name="Shape 122"/>
          <p:cNvSpPr/>
          <p:nvPr/>
        </p:nvSpPr>
        <p:spPr>
          <a:xfrm>
            <a:off x="5669280" y="3127248"/>
            <a:ext cx="9144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E0"/>
            </a:solidFill>
            <a:prstDash val="solid"/>
          </a:ln>
        </p:spPr>
      </p:sp>
      <p:sp>
        <p:nvSpPr>
          <p:cNvPr id="125" name="Text 123"/>
          <p:cNvSpPr txBox="1"/>
          <p:nvPr/>
        </p:nvSpPr>
        <p:spPr>
          <a:xfrm>
            <a:off x="5715000" y="3145536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27.4%</a:t>
            </a:r>
            <a:endParaRPr lang="en-US" sz="850" dirty="0"/>
          </a:p>
        </p:txBody>
      </p:sp>
      <p:sp>
        <p:nvSpPr>
          <p:cNvPr id="126" name="Shape 124"/>
          <p:cNvSpPr/>
          <p:nvPr/>
        </p:nvSpPr>
        <p:spPr>
          <a:xfrm>
            <a:off x="6583680" y="3127248"/>
            <a:ext cx="14630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E0"/>
            </a:solidFill>
            <a:prstDash val="solid"/>
          </a:ln>
        </p:spPr>
      </p:sp>
      <p:sp>
        <p:nvSpPr>
          <p:cNvPr id="127" name="Text 125"/>
          <p:cNvSpPr txBox="1"/>
          <p:nvPr/>
        </p:nvSpPr>
        <p:spPr>
          <a:xfrm>
            <a:off x="6629400" y="314553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8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45,143</a:t>
            </a:r>
            <a:endParaRPr lang="en-US" sz="850" dirty="0"/>
          </a:p>
        </p:txBody>
      </p:sp>
      <p:sp>
        <p:nvSpPr>
          <p:cNvPr id="128" name="Shape 126"/>
          <p:cNvSpPr/>
          <p:nvPr/>
        </p:nvSpPr>
        <p:spPr>
          <a:xfrm>
            <a:off x="182880" y="3401568"/>
            <a:ext cx="1920240" cy="274320"/>
          </a:xfrm>
          <a:prstGeom prst="rect">
            <a:avLst/>
          </a:prstGeom>
          <a:solidFill>
            <a:srgbClr val="FFF5F5"/>
          </a:solidFill>
          <a:ln w="12700">
            <a:solidFill>
              <a:srgbClr val="D9E5E0"/>
            </a:solidFill>
            <a:prstDash val="solid"/>
          </a:ln>
        </p:spPr>
      </p:sp>
      <p:sp>
        <p:nvSpPr>
          <p:cNvPr id="129" name="Text 127"/>
          <p:cNvSpPr txBox="1"/>
          <p:nvPr/>
        </p:nvSpPr>
        <p:spPr>
          <a:xfrm>
            <a:off x="228600" y="341985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Expenses</a:t>
            </a:r>
            <a:endParaRPr lang="en-US" sz="900" dirty="0"/>
          </a:p>
        </p:txBody>
      </p:sp>
      <p:sp>
        <p:nvSpPr>
          <p:cNvPr id="130" name="Shape 128"/>
          <p:cNvSpPr/>
          <p:nvPr/>
        </p:nvSpPr>
        <p:spPr>
          <a:xfrm>
            <a:off x="2103120" y="3401568"/>
            <a:ext cx="1188720" cy="274320"/>
          </a:xfrm>
          <a:prstGeom prst="rect">
            <a:avLst/>
          </a:prstGeom>
          <a:solidFill>
            <a:srgbClr val="FFF5F5"/>
          </a:solidFill>
          <a:ln w="12700">
            <a:solidFill>
              <a:srgbClr val="D9E5E0"/>
            </a:solidFill>
            <a:prstDash val="solid"/>
          </a:ln>
        </p:spPr>
      </p:sp>
      <p:sp>
        <p:nvSpPr>
          <p:cNvPr id="131" name="Text 129"/>
          <p:cNvSpPr txBox="1"/>
          <p:nvPr/>
        </p:nvSpPr>
        <p:spPr>
          <a:xfrm>
            <a:off x="2148840" y="341985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50" dirty="0"/>
          </a:p>
        </p:txBody>
      </p:sp>
      <p:sp>
        <p:nvSpPr>
          <p:cNvPr id="132" name="Shape 130"/>
          <p:cNvSpPr/>
          <p:nvPr/>
        </p:nvSpPr>
        <p:spPr>
          <a:xfrm>
            <a:off x="3291840" y="3401568"/>
            <a:ext cx="1188720" cy="274320"/>
          </a:xfrm>
          <a:prstGeom prst="rect">
            <a:avLst/>
          </a:prstGeom>
          <a:solidFill>
            <a:srgbClr val="FFF5F5"/>
          </a:solidFill>
          <a:ln w="12700">
            <a:solidFill>
              <a:srgbClr val="D9E5E0"/>
            </a:solidFill>
            <a:prstDash val="solid"/>
          </a:ln>
        </p:spPr>
      </p:sp>
      <p:sp>
        <p:nvSpPr>
          <p:cNvPr id="133" name="Text 131"/>
          <p:cNvSpPr txBox="1"/>
          <p:nvPr/>
        </p:nvSpPr>
        <p:spPr>
          <a:xfrm>
            <a:off x="3337560" y="341985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5,731</a:t>
            </a:r>
            <a:endParaRPr lang="en-US" sz="850" dirty="0"/>
          </a:p>
        </p:txBody>
      </p:sp>
      <p:sp>
        <p:nvSpPr>
          <p:cNvPr id="134" name="Shape 132"/>
          <p:cNvSpPr/>
          <p:nvPr/>
        </p:nvSpPr>
        <p:spPr>
          <a:xfrm>
            <a:off x="4480560" y="3401568"/>
            <a:ext cx="1188720" cy="274320"/>
          </a:xfrm>
          <a:prstGeom prst="rect">
            <a:avLst/>
          </a:prstGeom>
          <a:solidFill>
            <a:srgbClr val="FFF5F5"/>
          </a:solidFill>
          <a:ln w="12700">
            <a:solidFill>
              <a:srgbClr val="D9E5E0"/>
            </a:solidFill>
            <a:prstDash val="solid"/>
          </a:ln>
        </p:spPr>
      </p:sp>
      <p:sp>
        <p:nvSpPr>
          <p:cNvPr id="135" name="Text 133"/>
          <p:cNvSpPr txBox="1"/>
          <p:nvPr/>
        </p:nvSpPr>
        <p:spPr>
          <a:xfrm>
            <a:off x="4526280" y="341985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50" dirty="0"/>
          </a:p>
        </p:txBody>
      </p:sp>
      <p:sp>
        <p:nvSpPr>
          <p:cNvPr id="136" name="Shape 134"/>
          <p:cNvSpPr/>
          <p:nvPr/>
        </p:nvSpPr>
        <p:spPr>
          <a:xfrm>
            <a:off x="5669280" y="3401568"/>
            <a:ext cx="914400" cy="274320"/>
          </a:xfrm>
          <a:prstGeom prst="rect">
            <a:avLst/>
          </a:prstGeom>
          <a:solidFill>
            <a:srgbClr val="FFF5F5"/>
          </a:solidFill>
          <a:ln w="12700">
            <a:solidFill>
              <a:srgbClr val="D9E5E0"/>
            </a:solidFill>
            <a:prstDash val="solid"/>
          </a:ln>
        </p:spPr>
      </p:sp>
      <p:sp>
        <p:nvSpPr>
          <p:cNvPr id="137" name="Text 135"/>
          <p:cNvSpPr txBox="1"/>
          <p:nvPr/>
        </p:nvSpPr>
        <p:spPr>
          <a:xfrm>
            <a:off x="5715000" y="3419856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850" dirty="0"/>
          </a:p>
        </p:txBody>
      </p:sp>
      <p:sp>
        <p:nvSpPr>
          <p:cNvPr id="138" name="Shape 136"/>
          <p:cNvSpPr/>
          <p:nvPr/>
        </p:nvSpPr>
        <p:spPr>
          <a:xfrm>
            <a:off x="6583680" y="3401568"/>
            <a:ext cx="1463040" cy="274320"/>
          </a:xfrm>
          <a:prstGeom prst="rect">
            <a:avLst/>
          </a:prstGeom>
          <a:solidFill>
            <a:srgbClr val="FFF5F5"/>
          </a:solidFill>
          <a:ln w="12700">
            <a:solidFill>
              <a:srgbClr val="D9E5E0"/>
            </a:solidFill>
            <a:prstDash val="solid"/>
          </a:ln>
        </p:spPr>
      </p:sp>
      <p:sp>
        <p:nvSpPr>
          <p:cNvPr id="139" name="Text 137"/>
          <p:cNvSpPr txBox="1"/>
          <p:nvPr/>
        </p:nvSpPr>
        <p:spPr>
          <a:xfrm>
            <a:off x="6629400" y="341985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(5,731)</a:t>
            </a:r>
            <a:endParaRPr lang="en-US" sz="850" dirty="0"/>
          </a:p>
        </p:txBody>
      </p:sp>
      <p:sp>
        <p:nvSpPr>
          <p:cNvPr id="140" name="Shape 138"/>
          <p:cNvSpPr/>
          <p:nvPr/>
        </p:nvSpPr>
        <p:spPr>
          <a:xfrm>
            <a:off x="182880" y="3675888"/>
            <a:ext cx="19202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E0"/>
            </a:solidFill>
            <a:prstDash val="solid"/>
          </a:ln>
        </p:spPr>
      </p:sp>
      <p:sp>
        <p:nvSpPr>
          <p:cNvPr id="141" name="Text 139"/>
          <p:cNvSpPr txBox="1"/>
          <p:nvPr/>
        </p:nvSpPr>
        <p:spPr>
          <a:xfrm>
            <a:off x="228600" y="369417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8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Svcs (DSC)</a:t>
            </a:r>
            <a:endParaRPr lang="en-US" sz="900" dirty="0"/>
          </a:p>
        </p:txBody>
      </p:sp>
      <p:sp>
        <p:nvSpPr>
          <p:cNvPr id="142" name="Shape 140"/>
          <p:cNvSpPr/>
          <p:nvPr/>
        </p:nvSpPr>
        <p:spPr>
          <a:xfrm>
            <a:off x="2103120" y="3675888"/>
            <a:ext cx="11887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E0"/>
            </a:solidFill>
            <a:prstDash val="solid"/>
          </a:ln>
        </p:spPr>
      </p:sp>
      <p:sp>
        <p:nvSpPr>
          <p:cNvPr id="143" name="Text 141"/>
          <p:cNvSpPr txBox="1"/>
          <p:nvPr/>
        </p:nvSpPr>
        <p:spPr>
          <a:xfrm>
            <a:off x="2148840" y="369417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8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23,050</a:t>
            </a:r>
            <a:endParaRPr lang="en-US" sz="850" dirty="0"/>
          </a:p>
        </p:txBody>
      </p:sp>
      <p:sp>
        <p:nvSpPr>
          <p:cNvPr id="144" name="Shape 142"/>
          <p:cNvSpPr/>
          <p:nvPr/>
        </p:nvSpPr>
        <p:spPr>
          <a:xfrm>
            <a:off x="3291840" y="3675888"/>
            <a:ext cx="11887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E0"/>
            </a:solidFill>
            <a:prstDash val="solid"/>
          </a:ln>
        </p:spPr>
      </p:sp>
      <p:sp>
        <p:nvSpPr>
          <p:cNvPr id="145" name="Text 143"/>
          <p:cNvSpPr txBox="1"/>
          <p:nvPr/>
        </p:nvSpPr>
        <p:spPr>
          <a:xfrm>
            <a:off x="3337560" y="369417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8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18,029</a:t>
            </a:r>
            <a:endParaRPr lang="en-US" sz="850" dirty="0"/>
          </a:p>
        </p:txBody>
      </p:sp>
      <p:sp>
        <p:nvSpPr>
          <p:cNvPr id="146" name="Shape 144"/>
          <p:cNvSpPr/>
          <p:nvPr/>
        </p:nvSpPr>
        <p:spPr>
          <a:xfrm>
            <a:off x="4480560" y="3675888"/>
            <a:ext cx="11887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E0"/>
            </a:solidFill>
            <a:prstDash val="solid"/>
          </a:ln>
        </p:spPr>
      </p:sp>
      <p:sp>
        <p:nvSpPr>
          <p:cNvPr id="147" name="Text 145"/>
          <p:cNvSpPr txBox="1"/>
          <p:nvPr/>
        </p:nvSpPr>
        <p:spPr>
          <a:xfrm>
            <a:off x="4526280" y="369417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8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50" dirty="0"/>
          </a:p>
        </p:txBody>
      </p:sp>
      <p:sp>
        <p:nvSpPr>
          <p:cNvPr id="148" name="Shape 146"/>
          <p:cNvSpPr/>
          <p:nvPr/>
        </p:nvSpPr>
        <p:spPr>
          <a:xfrm>
            <a:off x="5669280" y="3675888"/>
            <a:ext cx="9144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E0"/>
            </a:solidFill>
            <a:prstDash val="solid"/>
          </a:ln>
        </p:spPr>
      </p:sp>
      <p:sp>
        <p:nvSpPr>
          <p:cNvPr id="149" name="Text 147"/>
          <p:cNvSpPr txBox="1"/>
          <p:nvPr/>
        </p:nvSpPr>
        <p:spPr>
          <a:xfrm>
            <a:off x="5715000" y="3694176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78.2%</a:t>
            </a:r>
            <a:endParaRPr lang="en-US" sz="850" dirty="0"/>
          </a:p>
        </p:txBody>
      </p:sp>
      <p:sp>
        <p:nvSpPr>
          <p:cNvPr id="150" name="Shape 148"/>
          <p:cNvSpPr/>
          <p:nvPr/>
        </p:nvSpPr>
        <p:spPr>
          <a:xfrm>
            <a:off x="6583680" y="3675888"/>
            <a:ext cx="14630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E0"/>
            </a:solidFill>
            <a:prstDash val="solid"/>
          </a:ln>
        </p:spPr>
      </p:sp>
      <p:sp>
        <p:nvSpPr>
          <p:cNvPr id="151" name="Text 149"/>
          <p:cNvSpPr txBox="1"/>
          <p:nvPr/>
        </p:nvSpPr>
        <p:spPr>
          <a:xfrm>
            <a:off x="6629400" y="369417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8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5,021</a:t>
            </a:r>
            <a:endParaRPr lang="en-US" sz="850" dirty="0"/>
          </a:p>
        </p:txBody>
      </p:sp>
      <p:sp>
        <p:nvSpPr>
          <p:cNvPr id="152" name="Shape 150"/>
          <p:cNvSpPr/>
          <p:nvPr/>
        </p:nvSpPr>
        <p:spPr>
          <a:xfrm>
            <a:off x="182880" y="3950208"/>
            <a:ext cx="1920240" cy="274320"/>
          </a:xfrm>
          <a:prstGeom prst="rect">
            <a:avLst/>
          </a:prstGeom>
          <a:solidFill>
            <a:srgbClr val="E5EEE8"/>
          </a:solidFill>
          <a:ln w="12700">
            <a:solidFill>
              <a:srgbClr val="D9E5E0"/>
            </a:solidFill>
            <a:prstDash val="solid"/>
          </a:ln>
        </p:spPr>
      </p:sp>
      <p:sp>
        <p:nvSpPr>
          <p:cNvPr id="153" name="Text 151"/>
          <p:cNvSpPr txBox="1"/>
          <p:nvPr/>
        </p:nvSpPr>
        <p:spPr>
          <a:xfrm>
            <a:off x="228600" y="396849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3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900" dirty="0"/>
          </a:p>
        </p:txBody>
      </p:sp>
      <p:sp>
        <p:nvSpPr>
          <p:cNvPr id="154" name="Shape 152"/>
          <p:cNvSpPr/>
          <p:nvPr/>
        </p:nvSpPr>
        <p:spPr>
          <a:xfrm>
            <a:off x="2103120" y="3950208"/>
            <a:ext cx="1188720" cy="274320"/>
          </a:xfrm>
          <a:prstGeom prst="rect">
            <a:avLst/>
          </a:prstGeom>
          <a:solidFill>
            <a:srgbClr val="E5EEE8"/>
          </a:solidFill>
          <a:ln w="12700">
            <a:solidFill>
              <a:srgbClr val="D9E5E0"/>
            </a:solidFill>
            <a:prstDash val="solid"/>
          </a:ln>
        </p:spPr>
      </p:sp>
      <p:sp>
        <p:nvSpPr>
          <p:cNvPr id="155" name="Text 153"/>
          <p:cNvSpPr txBox="1"/>
          <p:nvPr/>
        </p:nvSpPr>
        <p:spPr>
          <a:xfrm>
            <a:off x="2148840" y="396849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F3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950,017</a:t>
            </a:r>
            <a:endParaRPr lang="en-US" sz="850" dirty="0"/>
          </a:p>
        </p:txBody>
      </p:sp>
      <p:sp>
        <p:nvSpPr>
          <p:cNvPr id="156" name="Shape 154"/>
          <p:cNvSpPr/>
          <p:nvPr/>
        </p:nvSpPr>
        <p:spPr>
          <a:xfrm>
            <a:off x="3291840" y="3950208"/>
            <a:ext cx="1188720" cy="274320"/>
          </a:xfrm>
          <a:prstGeom prst="rect">
            <a:avLst/>
          </a:prstGeom>
          <a:solidFill>
            <a:srgbClr val="E5EEE8"/>
          </a:solidFill>
          <a:ln w="12700">
            <a:solidFill>
              <a:srgbClr val="D9E5E0"/>
            </a:solidFill>
            <a:prstDash val="solid"/>
          </a:ln>
        </p:spPr>
      </p:sp>
      <p:sp>
        <p:nvSpPr>
          <p:cNvPr id="157" name="Text 155"/>
          <p:cNvSpPr txBox="1"/>
          <p:nvPr/>
        </p:nvSpPr>
        <p:spPr>
          <a:xfrm>
            <a:off x="3337560" y="396849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F3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262,104</a:t>
            </a:r>
            <a:endParaRPr lang="en-US" sz="850" dirty="0"/>
          </a:p>
        </p:txBody>
      </p:sp>
      <p:sp>
        <p:nvSpPr>
          <p:cNvPr id="158" name="Shape 156"/>
          <p:cNvSpPr/>
          <p:nvPr/>
        </p:nvSpPr>
        <p:spPr>
          <a:xfrm>
            <a:off x="4480560" y="3950208"/>
            <a:ext cx="1188720" cy="274320"/>
          </a:xfrm>
          <a:prstGeom prst="rect">
            <a:avLst/>
          </a:prstGeom>
          <a:solidFill>
            <a:srgbClr val="E5EEE8"/>
          </a:solidFill>
          <a:ln w="12700">
            <a:solidFill>
              <a:srgbClr val="D9E5E0"/>
            </a:solidFill>
            <a:prstDash val="solid"/>
          </a:ln>
        </p:spPr>
      </p:sp>
      <p:sp>
        <p:nvSpPr>
          <p:cNvPr id="159" name="Text 157"/>
          <p:cNvSpPr txBox="1"/>
          <p:nvPr/>
        </p:nvSpPr>
        <p:spPr>
          <a:xfrm>
            <a:off x="4526280" y="396849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F3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137,120</a:t>
            </a:r>
            <a:endParaRPr lang="en-US" sz="850" dirty="0"/>
          </a:p>
        </p:txBody>
      </p:sp>
      <p:sp>
        <p:nvSpPr>
          <p:cNvPr id="160" name="Shape 158"/>
          <p:cNvSpPr/>
          <p:nvPr/>
        </p:nvSpPr>
        <p:spPr>
          <a:xfrm>
            <a:off x="5669280" y="3950208"/>
            <a:ext cx="914400" cy="274320"/>
          </a:xfrm>
          <a:prstGeom prst="rect">
            <a:avLst/>
          </a:prstGeom>
          <a:solidFill>
            <a:srgbClr val="E5EEE8"/>
          </a:solidFill>
          <a:ln w="12700">
            <a:solidFill>
              <a:srgbClr val="D9E5E0"/>
            </a:solidFill>
            <a:prstDash val="solid"/>
          </a:ln>
        </p:spPr>
      </p:sp>
      <p:sp>
        <p:nvSpPr>
          <p:cNvPr id="161" name="Text 159"/>
          <p:cNvSpPr txBox="1"/>
          <p:nvPr/>
        </p:nvSpPr>
        <p:spPr>
          <a:xfrm>
            <a:off x="5715000" y="3968496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27.6%</a:t>
            </a:r>
            <a:endParaRPr lang="en-US" sz="850" dirty="0"/>
          </a:p>
        </p:txBody>
      </p:sp>
      <p:sp>
        <p:nvSpPr>
          <p:cNvPr id="162" name="Shape 160"/>
          <p:cNvSpPr/>
          <p:nvPr/>
        </p:nvSpPr>
        <p:spPr>
          <a:xfrm>
            <a:off x="6583680" y="3950208"/>
            <a:ext cx="1463040" cy="274320"/>
          </a:xfrm>
          <a:prstGeom prst="rect">
            <a:avLst/>
          </a:prstGeom>
          <a:solidFill>
            <a:srgbClr val="E5EEE8"/>
          </a:solidFill>
          <a:ln w="12700">
            <a:solidFill>
              <a:srgbClr val="D9E5E0"/>
            </a:solidFill>
            <a:prstDash val="solid"/>
          </a:ln>
        </p:spPr>
      </p:sp>
      <p:sp>
        <p:nvSpPr>
          <p:cNvPr id="163" name="Text 161"/>
          <p:cNvSpPr txBox="1"/>
          <p:nvPr/>
        </p:nvSpPr>
        <p:spPr>
          <a:xfrm>
            <a:off x="6629400" y="396849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F3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550,793</a:t>
            </a:r>
            <a:endParaRPr lang="en-US" sz="850" dirty="0"/>
          </a:p>
        </p:txBody>
      </p:sp>
      <p:sp>
        <p:nvSpPr>
          <p:cNvPr id="164" name="Text 162"/>
          <p:cNvSpPr txBox="1"/>
          <p:nvPr/>
        </p:nvSpPr>
        <p:spPr>
          <a:xfrm>
            <a:off x="182880" y="4370832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Non-Exp. Equip. (5025): Hard commitments of $34,646 exceed budget of $12,352 by $22,294.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DF2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3028"/>
          </a:solidFill>
          <a:ln w="12700">
            <a:solidFill>
              <a:srgbClr val="0F302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Overrun Alerts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6675120" y="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EC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Items Require Immediate Attention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F3028"/>
          </a:solidFill>
          <a:ln w="12700">
            <a:solidFill>
              <a:srgbClr val="0F302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74320" y="4663440"/>
            <a:ext cx="59436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FI 102 – TF Financial Statement | TF5C35TZ24481 | 22-Sep-2026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6217920" y="4663440"/>
            <a:ext cx="27432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9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D4DAT Joint Programme | September 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713232"/>
            <a:ext cx="283464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82880" y="713232"/>
            <a:ext cx="283464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850392"/>
            <a:ext cx="640080" cy="256032"/>
          </a:xfrm>
          <a:prstGeom prst="rect">
            <a:avLst/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0040" y="8503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5023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33272" y="850392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8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20040" y="1261872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651%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320040" y="2011680"/>
            <a:ext cx="2560320" cy="402336"/>
          </a:xfrm>
          <a:prstGeom prst="rect">
            <a:avLst/>
          </a:prstGeom>
          <a:solidFill>
            <a:srgbClr val="F9FAFB"/>
          </a:solidFill>
          <a:ln w="12700">
            <a:solidFill>
              <a:srgbClr val="D9E5E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65760" y="2066544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Budget: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051560" y="206654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8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$2,215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2487168"/>
            <a:ext cx="2560320" cy="402336"/>
          </a:xfrm>
          <a:prstGeom prst="rect">
            <a:avLst/>
          </a:prstGeom>
          <a:solidFill>
            <a:srgbClr val="F9FAFB"/>
          </a:solidFill>
          <a:ln w="12700">
            <a:solidFill>
              <a:srgbClr val="D9E5E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65760" y="2542032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Actuals: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051560" y="254203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8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$14,420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2962656"/>
            <a:ext cx="2560320" cy="402336"/>
          </a:xfrm>
          <a:prstGeom prst="rect">
            <a:avLst/>
          </a:prstGeom>
          <a:solidFill>
            <a:srgbClr val="F9FAFB"/>
          </a:solidFill>
          <a:ln w="12700">
            <a:solidFill>
              <a:srgbClr val="D9E5E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65760" y="3017520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by: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30175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$12,205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320040" y="3547872"/>
            <a:ext cx="2560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expenditure exceeded original budget by 551%. Immediate budget review and reallocation required.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172968" y="713232"/>
            <a:ext cx="283464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172968" y="713232"/>
            <a:ext cx="283464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10128" y="850392"/>
            <a:ext cx="640080" cy="256032"/>
          </a:xfrm>
          <a:prstGeom prst="rect">
            <a:avLst/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310128" y="8503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5025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4023360" y="850392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8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Non-Expendable Equipment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3310128" y="1261872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Commit Risk</a:t>
            </a:r>
            <a:endParaRPr lang="en-US" sz="2600" dirty="0"/>
          </a:p>
        </p:txBody>
      </p:sp>
      <p:sp>
        <p:nvSpPr>
          <p:cNvPr id="30" name="Shape 28"/>
          <p:cNvSpPr/>
          <p:nvPr/>
        </p:nvSpPr>
        <p:spPr>
          <a:xfrm>
            <a:off x="3310128" y="2011680"/>
            <a:ext cx="2560320" cy="402336"/>
          </a:xfrm>
          <a:prstGeom prst="rect">
            <a:avLst/>
          </a:prstGeom>
          <a:solidFill>
            <a:srgbClr val="F9FAFB"/>
          </a:solidFill>
          <a:ln w="12700">
            <a:solidFill>
              <a:srgbClr val="D9E5E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355848" y="2066544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Budget: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4041648" y="206654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8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$12,352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310128" y="2487168"/>
            <a:ext cx="2560320" cy="402336"/>
          </a:xfrm>
          <a:prstGeom prst="rect">
            <a:avLst/>
          </a:prstGeom>
          <a:solidFill>
            <a:srgbClr val="F9FAFB"/>
          </a:solidFill>
          <a:ln w="12700">
            <a:solidFill>
              <a:srgbClr val="D9E5E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355848" y="2542032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Actuals: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4041648" y="254203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8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 spent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310128" y="2962656"/>
            <a:ext cx="2560320" cy="402336"/>
          </a:xfrm>
          <a:prstGeom prst="rect">
            <a:avLst/>
          </a:prstGeom>
          <a:solidFill>
            <a:srgbClr val="F9FAFB"/>
          </a:solidFill>
          <a:ln w="12700">
            <a:solidFill>
              <a:srgbClr val="D9E5E0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3355848" y="3017520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by: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4041648" y="30175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$22,294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3310128" y="3547872"/>
            <a:ext cx="2560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commitments of $34,646 exceed the $12,352 budget. No actuals yet but commitment exposure is over-budget.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163056" y="713232"/>
            <a:ext cx="283464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163056" y="713232"/>
            <a:ext cx="283464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300216" y="850392"/>
            <a:ext cx="640080" cy="256032"/>
          </a:xfrm>
          <a:prstGeom prst="rect">
            <a:avLst/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300216" y="8503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5031</a:t>
            </a:r>
            <a:endParaRPr lang="en-US" sz="900" dirty="0"/>
          </a:p>
        </p:txBody>
      </p:sp>
      <p:sp>
        <p:nvSpPr>
          <p:cNvPr id="44" name="Text 42"/>
          <p:cNvSpPr txBox="1"/>
          <p:nvPr/>
        </p:nvSpPr>
        <p:spPr>
          <a:xfrm>
            <a:off x="7013448" y="850392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8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Expenses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6300216" y="1261872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Unbudgeted</a:t>
            </a:r>
            <a:endParaRPr lang="en-US" sz="2600" dirty="0"/>
          </a:p>
        </p:txBody>
      </p:sp>
      <p:sp>
        <p:nvSpPr>
          <p:cNvPr id="46" name="Shape 44"/>
          <p:cNvSpPr/>
          <p:nvPr/>
        </p:nvSpPr>
        <p:spPr>
          <a:xfrm>
            <a:off x="6300216" y="2011680"/>
            <a:ext cx="2560320" cy="402336"/>
          </a:xfrm>
          <a:prstGeom prst="rect">
            <a:avLst/>
          </a:prstGeom>
          <a:solidFill>
            <a:srgbClr val="F9FAFB"/>
          </a:solidFill>
          <a:ln w="12700">
            <a:solidFill>
              <a:srgbClr val="D9E5E0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345936" y="2066544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Budget:</a:t>
            </a:r>
            <a:endParaRPr lang="en-US" sz="900" dirty="0"/>
          </a:p>
        </p:txBody>
      </p:sp>
      <p:sp>
        <p:nvSpPr>
          <p:cNvPr id="48" name="Text 46"/>
          <p:cNvSpPr txBox="1"/>
          <p:nvPr/>
        </p:nvSpPr>
        <p:spPr>
          <a:xfrm>
            <a:off x="7031736" y="206654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8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300216" y="2487168"/>
            <a:ext cx="2560320" cy="402336"/>
          </a:xfrm>
          <a:prstGeom prst="rect">
            <a:avLst/>
          </a:prstGeom>
          <a:solidFill>
            <a:srgbClr val="F9FAFB"/>
          </a:solidFill>
          <a:ln w="12700">
            <a:solidFill>
              <a:srgbClr val="D9E5E0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6345936" y="2542032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Actuals:</a:t>
            </a:r>
            <a:endParaRPr lang="en-US" sz="900" dirty="0"/>
          </a:p>
        </p:txBody>
      </p:sp>
      <p:sp>
        <p:nvSpPr>
          <p:cNvPr id="51" name="Text 49"/>
          <p:cNvSpPr txBox="1"/>
          <p:nvPr/>
        </p:nvSpPr>
        <p:spPr>
          <a:xfrm>
            <a:off x="7031736" y="254203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8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$5,731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6300216" y="2962656"/>
            <a:ext cx="2560320" cy="402336"/>
          </a:xfrm>
          <a:prstGeom prst="rect">
            <a:avLst/>
          </a:prstGeom>
          <a:solidFill>
            <a:srgbClr val="F9FAFB"/>
          </a:solidFill>
          <a:ln w="12700">
            <a:solidFill>
              <a:srgbClr val="D9E5E0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6345936" y="3017520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by:</a:t>
            </a:r>
            <a:endParaRPr lang="en-US" sz="900" dirty="0"/>
          </a:p>
        </p:txBody>
      </p:sp>
      <p:sp>
        <p:nvSpPr>
          <p:cNvPr id="54" name="Text 52"/>
          <p:cNvSpPr txBox="1"/>
          <p:nvPr/>
        </p:nvSpPr>
        <p:spPr>
          <a:xfrm>
            <a:off x="7031736" y="30175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$5,731</a:t>
            </a:r>
            <a:endParaRPr lang="en-US" sz="1100" dirty="0"/>
          </a:p>
        </p:txBody>
      </p:sp>
      <p:sp>
        <p:nvSpPr>
          <p:cNvPr id="55" name="Text 53"/>
          <p:cNvSpPr txBox="1"/>
          <p:nvPr/>
        </p:nvSpPr>
        <p:spPr>
          <a:xfrm>
            <a:off x="6300216" y="3547872"/>
            <a:ext cx="2560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Expenditure incurred against a $0 budget line. Budget reallocation or supplemental funding required.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2026-09-22T10:04:59Z</dcterms:created>
  <dcterms:modified xsi:type="dcterms:W3CDTF">2026-09-22T10:04:59Z</dcterms:modified>
</cp:coreProperties>
</file>